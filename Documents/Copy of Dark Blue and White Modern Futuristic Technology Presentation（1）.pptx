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2.svg" ContentType="image/svg"/>
  <Override PartName="/ppt/media/image3.png" ContentType="image/png"/>
  <Override PartName="/ppt/media/image4.svg" ContentType="image/svg"/>
  <Override PartName="/ppt/media/image5.png" ContentType="image/png"/>
  <Override PartName="/ppt/media/image13.png" ContentType="image/png"/>
  <Override PartName="/ppt/media/image6.svg" ContentType="image/svg"/>
  <Override PartName="/ppt/media/image14.svg" ContentType="image/svg"/>
  <Override PartName="/ppt/media/image7.png" ContentType="image/png"/>
  <Override PartName="/ppt/media/image15.png" ContentType="image/png"/>
  <Override PartName="/ppt/media/image9.png" ContentType="image/png"/>
  <Override PartName="/ppt/media/image17.png" ContentType="image/png"/>
  <Override PartName="/ppt/media/image10.png" ContentType="image/png"/>
  <Override PartName="/ppt/media/image8.svg" ContentType="image/svg"/>
  <Override PartName="/ppt/media/image11.svg" ContentType="image/svg"/>
  <Override PartName="/ppt/media/image12.png" ContentType="image/png"/>
  <Override PartName="/ppt/media/image16.png" ContentType="image/png"/>
  <Override PartName="/ppt/media/image18.png" ContentType="image/png"/>
  <Override PartName="/ppt/media/image1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89BA71-D810-4737-BBC0-85F591DEE3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001712-47E6-4AE0-A5FE-9BA6BD9FEF6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19.png"/><Relationship Id="rId10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/>
          <p:cNvSpPr/>
          <p:nvPr/>
        </p:nvSpPr>
        <p:spPr>
          <a:xfrm>
            <a:off x="5694120" y="1693440"/>
            <a:ext cx="6899400" cy="6899400"/>
          </a:xfrm>
          <a:custGeom>
            <a:avLst/>
            <a:gdLst>
              <a:gd name="textAreaLeft" fmla="*/ 0 w 6899400"/>
              <a:gd name="textAreaRight" fmla="*/ 6899760 w 6899400"/>
              <a:gd name="textAreaTop" fmla="*/ 0 h 6899400"/>
              <a:gd name="textAreaBottom" fmla="*/ 6899760 h 6899400"/>
            </a:gdLst>
            <a:ahLst/>
            <a:rect l="textAreaLeft" t="textAreaTop" r="textAreaRight" b="textAreaBottom"/>
            <a:pathLst>
              <a:path w="6899766" h="6899766">
                <a:moveTo>
                  <a:pt x="0" y="0"/>
                </a:moveTo>
                <a:lnTo>
                  <a:pt x="6899766" y="0"/>
                </a:lnTo>
                <a:lnTo>
                  <a:pt x="6899766" y="6899766"/>
                </a:lnTo>
                <a:lnTo>
                  <a:pt x="0" y="68997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  <a:alphaModFix amt="4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grpSp>
        <p:nvGrpSpPr>
          <p:cNvPr id="6" name="Group 3"/>
          <p:cNvGrpSpPr/>
          <p:nvPr/>
        </p:nvGrpSpPr>
        <p:grpSpPr>
          <a:xfrm>
            <a:off x="1484640" y="-3608280"/>
            <a:ext cx="15318360" cy="8202600"/>
            <a:chOff x="1484640" y="-3608280"/>
            <a:chExt cx="15318360" cy="8202600"/>
          </a:xfrm>
        </p:grpSpPr>
        <p:sp>
          <p:nvSpPr>
            <p:cNvPr id="7" name="Freeform 4"/>
            <p:cNvSpPr/>
            <p:nvPr/>
          </p:nvSpPr>
          <p:spPr>
            <a:xfrm rot="16200000">
              <a:off x="5042520" y="-716580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8" name="TextBox 5"/>
            <p:cNvSpPr/>
            <p:nvPr/>
          </p:nvSpPr>
          <p:spPr>
            <a:xfrm rot="16200000">
              <a:off x="5739120" y="-580212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" name="Group 6"/>
          <p:cNvGrpSpPr/>
          <p:nvPr/>
        </p:nvGrpSpPr>
        <p:grpSpPr>
          <a:xfrm>
            <a:off x="4142880" y="6130080"/>
            <a:ext cx="15318360" cy="8202600"/>
            <a:chOff x="4142880" y="6130080"/>
            <a:chExt cx="15318360" cy="8202600"/>
          </a:xfrm>
        </p:grpSpPr>
        <p:sp>
          <p:nvSpPr>
            <p:cNvPr id="10" name="Freeform 7"/>
            <p:cNvSpPr/>
            <p:nvPr/>
          </p:nvSpPr>
          <p:spPr>
            <a:xfrm rot="5400000">
              <a:off x="7700760" y="257184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11" name="TextBox 8"/>
            <p:cNvSpPr/>
            <p:nvPr/>
          </p:nvSpPr>
          <p:spPr>
            <a:xfrm rot="5400000">
              <a:off x="8541720" y="393624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2" name="Freeform 9"/>
          <p:cNvSpPr/>
          <p:nvPr/>
        </p:nvSpPr>
        <p:spPr>
          <a:xfrm>
            <a:off x="13903200" y="-761040"/>
            <a:ext cx="5127480" cy="5141880"/>
          </a:xfrm>
          <a:custGeom>
            <a:avLst/>
            <a:gdLst>
              <a:gd name="textAreaLeft" fmla="*/ 0 w 5127480"/>
              <a:gd name="textAreaRight" fmla="*/ 5127840 w 5127480"/>
              <a:gd name="textAreaTop" fmla="*/ 0 h 5141880"/>
              <a:gd name="textAreaBottom" fmla="*/ 5142240 h 5141880"/>
            </a:gdLst>
            <a:ahLst/>
            <a:rect l="textAreaLeft" t="textAreaTop" r="textAreaRight" b="textAreaBottom"/>
            <a:pathLst>
              <a:path w="5127670" h="5142279">
                <a:moveTo>
                  <a:pt x="0" y="0"/>
                </a:moveTo>
                <a:lnTo>
                  <a:pt x="5127670" y="0"/>
                </a:lnTo>
                <a:lnTo>
                  <a:pt x="5127670" y="5142279"/>
                </a:lnTo>
                <a:lnTo>
                  <a:pt x="0" y="5142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" name="Freeform 10"/>
          <p:cNvSpPr/>
          <p:nvPr/>
        </p:nvSpPr>
        <p:spPr>
          <a:xfrm>
            <a:off x="0" y="5510520"/>
            <a:ext cx="3630600" cy="5069160"/>
          </a:xfrm>
          <a:custGeom>
            <a:avLst/>
            <a:gdLst>
              <a:gd name="textAreaLeft" fmla="*/ 0 w 3630600"/>
              <a:gd name="textAreaRight" fmla="*/ 3630960 w 3630600"/>
              <a:gd name="textAreaTop" fmla="*/ 0 h 5069160"/>
              <a:gd name="textAreaBottom" fmla="*/ 5069520 h 5069160"/>
            </a:gdLst>
            <a:ahLst/>
            <a:rect l="textAreaLeft" t="textAreaTop" r="textAreaRight" b="textAreaBottom"/>
            <a:pathLst>
              <a:path w="3630903" h="5069563">
                <a:moveTo>
                  <a:pt x="0" y="0"/>
                </a:moveTo>
                <a:lnTo>
                  <a:pt x="3630903" y="0"/>
                </a:lnTo>
                <a:lnTo>
                  <a:pt x="3630903" y="5069562"/>
                </a:lnTo>
                <a:lnTo>
                  <a:pt x="0" y="50695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" name="TextBox 11"/>
          <p:cNvSpPr/>
          <p:nvPr/>
        </p:nvSpPr>
        <p:spPr>
          <a:xfrm>
            <a:off x="4071600" y="3551400"/>
            <a:ext cx="10569600" cy="19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143"/>
              </a:lnSpc>
              <a:tabLst>
                <a:tab algn="l" pos="0"/>
              </a:tabLst>
            </a:pPr>
            <a:r>
              <a:rPr b="1" lang="en-US" sz="10810" strike="noStrike" u="none">
                <a:solidFill>
                  <a:srgbClr val="2c1972"/>
                </a:solidFill>
                <a:uFillTx/>
                <a:latin typeface="Telegraf Bold"/>
                <a:ea typeface="Telegraf Bold"/>
              </a:rPr>
              <a:t>ROBO DOCTOR</a:t>
            </a:r>
            <a:endParaRPr b="0" lang="en-US" sz="1081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5" name="TextBox 12"/>
          <p:cNvSpPr/>
          <p:nvPr/>
        </p:nvSpPr>
        <p:spPr>
          <a:xfrm>
            <a:off x="550080" y="1194480"/>
            <a:ext cx="2618640" cy="8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41"/>
              </a:lnSpc>
            </a:pPr>
            <a:r>
              <a:rPr b="1" lang="en-US" sz="2460" spc="317" strike="noStrike" u="none">
                <a:solidFill>
                  <a:srgbClr val="5a718c"/>
                </a:solidFill>
                <a:uFillTx/>
                <a:latin typeface="Open Sauce Bold"/>
                <a:ea typeface="Open Sauce Bold"/>
              </a:rPr>
              <a:t>TRIBAL TECH INNOVATORS</a:t>
            </a:r>
            <a:endParaRPr b="0" lang="en-US" sz="246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6" name="TextBox 13"/>
          <p:cNvSpPr/>
          <p:nvPr/>
        </p:nvSpPr>
        <p:spPr>
          <a:xfrm>
            <a:off x="13864320" y="1204200"/>
            <a:ext cx="378288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3121"/>
              </a:lnSpc>
            </a:pPr>
            <a:r>
              <a:rPr b="1" lang="en-US" sz="2230" spc="286" strike="noStrike" u="none">
                <a:solidFill>
                  <a:srgbClr val="5a718c"/>
                </a:solidFill>
                <a:uFillTx/>
                <a:latin typeface="Open Sauce Bold"/>
                <a:ea typeface="Open Sauce Bold"/>
              </a:rPr>
              <a:t>SRI GOWTHAM </a:t>
            </a:r>
            <a:endParaRPr b="0" lang="en-US" sz="223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r" defTabSz="914400">
              <a:lnSpc>
                <a:spcPts val="3121"/>
              </a:lnSpc>
            </a:pPr>
            <a:r>
              <a:rPr b="1" lang="en-US" sz="2230" spc="286" strike="noStrike" u="none">
                <a:solidFill>
                  <a:srgbClr val="5a718c"/>
                </a:solidFill>
                <a:uFillTx/>
                <a:latin typeface="Open Sauce Bold"/>
                <a:ea typeface="Open Sauce Bold"/>
              </a:rPr>
              <a:t>CBSE SCHOOL</a:t>
            </a:r>
            <a:endParaRPr b="0" lang="en-US" sz="22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7" name="TextBox 14"/>
          <p:cNvSpPr/>
          <p:nvPr/>
        </p:nvSpPr>
        <p:spPr>
          <a:xfrm>
            <a:off x="11210760" y="4971960"/>
            <a:ext cx="5384520" cy="9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713"/>
              </a:lnSpc>
            </a:pPr>
            <a:r>
              <a:rPr b="1" lang="en-US" sz="5510" strike="noStrike" u="none">
                <a:solidFill>
                  <a:srgbClr val="2c1972"/>
                </a:solidFill>
                <a:uFillTx/>
                <a:latin typeface="Telegraf Bold"/>
                <a:ea typeface="Telegraf Bold"/>
              </a:rPr>
              <a:t>FOR</a:t>
            </a:r>
            <a:endParaRPr b="0" lang="en-US" sz="551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8" name="TextBox 15"/>
          <p:cNvSpPr/>
          <p:nvPr/>
        </p:nvSpPr>
        <p:spPr>
          <a:xfrm>
            <a:off x="9356760" y="5819400"/>
            <a:ext cx="5384520" cy="96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574"/>
              </a:lnSpc>
            </a:pPr>
            <a:r>
              <a:rPr b="1" lang="en-US" sz="5410" strike="noStrike" u="none">
                <a:solidFill>
                  <a:srgbClr val="2c1972"/>
                </a:solidFill>
                <a:uFillTx/>
                <a:latin typeface="Telegraf Bold"/>
                <a:ea typeface="Telegraf Bold"/>
              </a:rPr>
              <a:t>UNREACHABLE</a:t>
            </a:r>
            <a:endParaRPr b="0" lang="en-US" sz="541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" name="TextBox 16"/>
          <p:cNvSpPr/>
          <p:nvPr/>
        </p:nvSpPr>
        <p:spPr>
          <a:xfrm>
            <a:off x="4016160" y="475920"/>
            <a:ext cx="10255320" cy="5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12"/>
              </a:lnSpc>
            </a:pPr>
            <a:r>
              <a:rPr b="1" lang="en-US" sz="3010" strike="noStrike" u="none">
                <a:solidFill>
                  <a:srgbClr val="787ff6"/>
                </a:solidFill>
                <a:uFillTx/>
                <a:latin typeface="Telegraf Bold"/>
                <a:ea typeface="Telegraf Bold"/>
              </a:rPr>
              <a:t>SWARNANDHRA VISION </a:t>
            </a:r>
            <a:endParaRPr b="0" lang="en-US" sz="301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" name="TextBox 17"/>
          <p:cNvSpPr/>
          <p:nvPr/>
        </p:nvSpPr>
        <p:spPr>
          <a:xfrm>
            <a:off x="6451560" y="857160"/>
            <a:ext cx="5384520" cy="9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713"/>
              </a:lnSpc>
            </a:pPr>
            <a:r>
              <a:rPr b="1" lang="en-US" sz="551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2047</a:t>
            </a:r>
            <a:endParaRPr b="0" lang="en-US" sz="551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" name="TextBox 18"/>
          <p:cNvSpPr/>
          <p:nvPr/>
        </p:nvSpPr>
        <p:spPr>
          <a:xfrm>
            <a:off x="5694120" y="8114760"/>
            <a:ext cx="6873120" cy="15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045"/>
              </a:lnSpc>
            </a:pPr>
            <a:r>
              <a:rPr b="1" lang="en-US" sz="2890" strike="noStrike" u="none">
                <a:solidFill>
                  <a:srgbClr val="d5c4ea"/>
                </a:solidFill>
                <a:uFillTx/>
                <a:latin typeface="Telegraf Bold"/>
                <a:ea typeface="Telegraf Bold"/>
              </a:rPr>
              <a:t>A SMARTER HEALTHCARE SYSTEM FOR A HEALTHIER</a:t>
            </a:r>
            <a:endParaRPr b="0" lang="en-US" sz="28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4045"/>
              </a:lnSpc>
            </a:pPr>
            <a:r>
              <a:rPr b="1" lang="en-US" sz="2890" strike="noStrike" u="none">
                <a:solidFill>
                  <a:srgbClr val="d5c4ea"/>
                </a:solidFill>
                <a:uFillTx/>
                <a:latin typeface="Telegraf Bold"/>
                <a:ea typeface="Telegraf Bold"/>
              </a:rPr>
              <a:t>ANDHRA PRADESH</a:t>
            </a:r>
            <a:endParaRPr b="0" lang="en-US" sz="289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/>
          <p:cNvGrpSpPr/>
          <p:nvPr/>
        </p:nvGrpSpPr>
        <p:grpSpPr>
          <a:xfrm>
            <a:off x="1484640" y="-2756520"/>
            <a:ext cx="15318360" cy="8202600"/>
            <a:chOff x="1484640" y="-2756520"/>
            <a:chExt cx="15318360" cy="8202600"/>
          </a:xfrm>
        </p:grpSpPr>
        <p:sp>
          <p:nvSpPr>
            <p:cNvPr id="23" name="Freeform 3"/>
            <p:cNvSpPr/>
            <p:nvPr/>
          </p:nvSpPr>
          <p:spPr>
            <a:xfrm rot="16200000">
              <a:off x="5042520" y="-631404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24" name="TextBox 4"/>
            <p:cNvSpPr/>
            <p:nvPr/>
          </p:nvSpPr>
          <p:spPr>
            <a:xfrm rot="16200000">
              <a:off x="5739120" y="-495036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5" name="Group 5"/>
          <p:cNvGrpSpPr/>
          <p:nvPr/>
        </p:nvGrpSpPr>
        <p:grpSpPr>
          <a:xfrm>
            <a:off x="1471680" y="5667480"/>
            <a:ext cx="15318360" cy="8202600"/>
            <a:chOff x="1471680" y="5667480"/>
            <a:chExt cx="15318360" cy="8202600"/>
          </a:xfrm>
        </p:grpSpPr>
        <p:sp>
          <p:nvSpPr>
            <p:cNvPr id="26" name="Freeform 6"/>
            <p:cNvSpPr/>
            <p:nvPr/>
          </p:nvSpPr>
          <p:spPr>
            <a:xfrm rot="5400000">
              <a:off x="5029560" y="210924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27" name="TextBox 7"/>
            <p:cNvSpPr/>
            <p:nvPr/>
          </p:nvSpPr>
          <p:spPr>
            <a:xfrm rot="5400000">
              <a:off x="5870520" y="347328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8" name="Freeform 8"/>
          <p:cNvSpPr/>
          <p:nvPr/>
        </p:nvSpPr>
        <p:spPr>
          <a:xfrm>
            <a:off x="14653800" y="-2462760"/>
            <a:ext cx="5867280" cy="5813640"/>
          </a:xfrm>
          <a:custGeom>
            <a:avLst/>
            <a:gdLst>
              <a:gd name="textAreaLeft" fmla="*/ 0 w 5867280"/>
              <a:gd name="textAreaRight" fmla="*/ 5867640 w 5867280"/>
              <a:gd name="textAreaTop" fmla="*/ 0 h 5813640"/>
              <a:gd name="textAreaBottom" fmla="*/ 5814000 h 5813640"/>
            </a:gdLst>
            <a:ahLst/>
            <a:rect l="textAreaLeft" t="textAreaTop" r="textAreaRight" b="textAreaBottom"/>
            <a:pathLst>
              <a:path w="5867517" h="5814176">
                <a:moveTo>
                  <a:pt x="0" y="0"/>
                </a:moveTo>
                <a:lnTo>
                  <a:pt x="5867518" y="0"/>
                </a:lnTo>
                <a:lnTo>
                  <a:pt x="5867518" y="5814176"/>
                </a:lnTo>
                <a:lnTo>
                  <a:pt x="0" y="58141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" name="Freeform 9"/>
          <p:cNvSpPr/>
          <p:nvPr/>
        </p:nvSpPr>
        <p:spPr>
          <a:xfrm>
            <a:off x="-1736280" y="7131600"/>
            <a:ext cx="5867280" cy="5813640"/>
          </a:xfrm>
          <a:custGeom>
            <a:avLst/>
            <a:gdLst>
              <a:gd name="textAreaLeft" fmla="*/ 0 w 5867280"/>
              <a:gd name="textAreaRight" fmla="*/ 5867640 w 5867280"/>
              <a:gd name="textAreaTop" fmla="*/ 0 h 5813640"/>
              <a:gd name="textAreaBottom" fmla="*/ 5814000 h 5813640"/>
            </a:gdLst>
            <a:ahLst/>
            <a:rect l="textAreaLeft" t="textAreaTop" r="textAreaRight" b="textAreaBottom"/>
            <a:pathLst>
              <a:path w="5867517" h="5814176">
                <a:moveTo>
                  <a:pt x="0" y="0"/>
                </a:moveTo>
                <a:lnTo>
                  <a:pt x="5867517" y="0"/>
                </a:lnTo>
                <a:lnTo>
                  <a:pt x="5867517" y="5814177"/>
                </a:lnTo>
                <a:lnTo>
                  <a:pt x="0" y="58141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3" t="-3" r="-3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0" name="TextBox 10"/>
          <p:cNvSpPr/>
          <p:nvPr/>
        </p:nvSpPr>
        <p:spPr>
          <a:xfrm>
            <a:off x="0" y="3189600"/>
            <a:ext cx="778248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98"/>
              </a:lnSpc>
            </a:pPr>
            <a:r>
              <a:rPr b="1" lang="en-US" sz="3480" strike="noStrike" u="none">
                <a:solidFill>
                  <a:srgbClr val="5a718c"/>
                </a:solidFill>
                <a:uFillTx/>
                <a:latin typeface="Telegraf Bold"/>
                <a:ea typeface="Telegraf Bold"/>
              </a:rPr>
              <a:t>🏘️ </a:t>
            </a:r>
            <a:r>
              <a:rPr b="1" lang="en-US" sz="3480" strike="noStrike" u="none">
                <a:solidFill>
                  <a:srgbClr val="5a718c"/>
                </a:solidFill>
                <a:uFillTx/>
                <a:latin typeface="Telegraf Bold"/>
                <a:ea typeface="Telegraf Bold"/>
              </a:rPr>
              <a:t>REMOTE VILLAGES</a:t>
            </a:r>
            <a:endParaRPr b="0" lang="en-US" sz="34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3098"/>
              </a:lnSpc>
            </a:pPr>
            <a:r>
              <a:rPr b="1" lang="en-US" sz="3480" strike="noStrike" u="none">
                <a:solidFill>
                  <a:srgbClr val="5a718c"/>
                </a:solidFill>
                <a:uFillTx/>
                <a:latin typeface="Telegraf Bold"/>
                <a:ea typeface="Telegraf Bold"/>
              </a:rPr>
              <a:t>HOSPITALS AND DIAGNOSTIC CENTRES MAY BE FAR AWAY.</a:t>
            </a:r>
            <a:endParaRPr b="0" lang="en-US" sz="34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1" name="TextBox 11"/>
          <p:cNvSpPr/>
          <p:nvPr/>
        </p:nvSpPr>
        <p:spPr>
          <a:xfrm>
            <a:off x="195120" y="5728320"/>
            <a:ext cx="7871760" cy="15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132"/>
              </a:lnSpc>
            </a:pPr>
            <a:r>
              <a:rPr b="1" lang="en-US" sz="3520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🛣️ </a:t>
            </a:r>
            <a:r>
              <a:rPr b="1" lang="en-US" sz="3520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LONG TRAVEL DISTANCES</a:t>
            </a:r>
            <a:endParaRPr b="0" lang="en-US" sz="3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3132"/>
              </a:lnSpc>
            </a:pPr>
            <a:r>
              <a:rPr b="1" lang="en-US" sz="3520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PEOPLE MAY NEED TO TRAVEL LONG DISTANCES FOR BASIC HEALTH SCREENING.</a:t>
            </a:r>
            <a:endParaRPr b="0" lang="en-US" sz="352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2" name="TextBox 12"/>
          <p:cNvSpPr/>
          <p:nvPr/>
        </p:nvSpPr>
        <p:spPr>
          <a:xfrm>
            <a:off x="10844280" y="2943360"/>
            <a:ext cx="6871320" cy="13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735"/>
              </a:lnSpc>
            </a:pPr>
            <a:r>
              <a:rPr b="1" lang="en-US" sz="3080" strike="noStrike" u="none">
                <a:solidFill>
                  <a:srgbClr val="5a718c"/>
                </a:solidFill>
                <a:uFillTx/>
                <a:latin typeface="Telegraf Bold"/>
                <a:ea typeface="Telegraf Bold"/>
              </a:rPr>
              <a:t>⏳ </a:t>
            </a:r>
            <a:r>
              <a:rPr b="1" lang="en-US" sz="3080" strike="noStrike" u="none">
                <a:solidFill>
                  <a:srgbClr val="5a718c"/>
                </a:solidFill>
                <a:uFillTx/>
                <a:latin typeface="Telegraf Bold"/>
                <a:ea typeface="Telegraf Bold"/>
              </a:rPr>
              <a:t>DELAYED DETECTION</a:t>
            </a:r>
            <a:endParaRPr b="0" lang="en-US" sz="30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735"/>
              </a:lnSpc>
            </a:pPr>
            <a:r>
              <a:rPr b="1" lang="en-US" sz="3080" strike="noStrike" u="none">
                <a:solidFill>
                  <a:srgbClr val="5a718c"/>
                </a:solidFill>
                <a:uFillTx/>
                <a:latin typeface="Telegraf Bold"/>
                <a:ea typeface="Telegraf Bold"/>
              </a:rPr>
              <a:t>LIMITED ACCESS TO TESTING CAN DELAY IDENTIFICATION OF POSSIBLE HEALTH PROBLEMS.</a:t>
            </a:r>
            <a:endParaRPr b="0" lang="en-US" sz="30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3" name="TextBox 13"/>
          <p:cNvSpPr/>
          <p:nvPr/>
        </p:nvSpPr>
        <p:spPr>
          <a:xfrm>
            <a:off x="10379160" y="5503320"/>
            <a:ext cx="7668360" cy="15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53"/>
              </a:lnSpc>
            </a:pPr>
            <a:r>
              <a:rPr b="1" lang="en-US" sz="3430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💰 </a:t>
            </a:r>
            <a:r>
              <a:rPr b="1" lang="en-US" sz="3430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COST &amp; ACCESSIBILITY</a:t>
            </a:r>
            <a:endParaRPr b="0" lang="en-US" sz="343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3053"/>
              </a:lnSpc>
            </a:pPr>
            <a:r>
              <a:rPr b="1" lang="en-US" sz="3430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TRAVEL EXPENSES AND LIMITED TRANSPORT CAN MAKE HEALTHCARE HARDER TO ACCESS.</a:t>
            </a:r>
            <a:endParaRPr b="0" lang="en-US" sz="34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4" name="TextBox 14"/>
          <p:cNvSpPr/>
          <p:nvPr/>
        </p:nvSpPr>
        <p:spPr>
          <a:xfrm>
            <a:off x="4872240" y="8369280"/>
            <a:ext cx="8335440" cy="12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17"/>
              </a:lnSpc>
            </a:pPr>
            <a:r>
              <a:rPr b="1" lang="en-US" sz="3730" strike="noStrike" u="none">
                <a:solidFill>
                  <a:srgbClr val="777168"/>
                </a:solidFill>
                <a:uFillTx/>
                <a:latin typeface="Telegraf Bold"/>
                <a:ea typeface="Telegraf Bold"/>
              </a:rPr>
              <a:t>HEALTHCARE SHOULD REACH PEOPLE — EVEN WHEN THE HOSPITAL IS FAR AWAY</a:t>
            </a:r>
            <a:endParaRPr b="0" lang="en-US" sz="37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5" name="TextBox 15"/>
          <p:cNvSpPr/>
          <p:nvPr/>
        </p:nvSpPr>
        <p:spPr>
          <a:xfrm>
            <a:off x="13556880" y="9962640"/>
            <a:ext cx="53625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25"/>
              </a:lnSpc>
            </a:pPr>
            <a:r>
              <a:rPr b="1" lang="en-US" sz="2300" spc="-108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TRIBAL TECH INNOVATORS</a:t>
            </a:r>
            <a:endParaRPr b="0" lang="en-US" sz="23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6" name="TextBox 16"/>
          <p:cNvSpPr/>
          <p:nvPr/>
        </p:nvSpPr>
        <p:spPr>
          <a:xfrm>
            <a:off x="2316960" y="244440"/>
            <a:ext cx="1279548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830"/>
              </a:lnSpc>
              <a:tabLst>
                <a:tab algn="l" pos="0"/>
              </a:tabLst>
            </a:pPr>
            <a:r>
              <a:rPr b="1" lang="en-US" sz="6300" strike="noStrike" u="none">
                <a:solidFill>
                  <a:srgbClr val="2c1972"/>
                </a:solidFill>
                <a:uFillTx/>
                <a:latin typeface="Telegraf Bold"/>
                <a:ea typeface="Telegraf Bold"/>
              </a:rPr>
              <a:t>HEALTH CARE IS STILL OUT OF REACH</a:t>
            </a:r>
            <a:endParaRPr b="0" lang="en-US" sz="63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"/>
          <p:cNvGrpSpPr/>
          <p:nvPr/>
        </p:nvGrpSpPr>
        <p:grpSpPr>
          <a:xfrm>
            <a:off x="1497960" y="-5271480"/>
            <a:ext cx="15318360" cy="8202600"/>
            <a:chOff x="1497960" y="-5271480"/>
            <a:chExt cx="15318360" cy="8202600"/>
          </a:xfrm>
        </p:grpSpPr>
        <p:sp>
          <p:nvSpPr>
            <p:cNvPr id="38" name="Freeform 3"/>
            <p:cNvSpPr/>
            <p:nvPr/>
          </p:nvSpPr>
          <p:spPr>
            <a:xfrm rot="16200000">
              <a:off x="5055840" y="-882900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39" name="TextBox 4"/>
            <p:cNvSpPr/>
            <p:nvPr/>
          </p:nvSpPr>
          <p:spPr>
            <a:xfrm rot="16200000">
              <a:off x="5752440" y="-746532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0" name="Freeform 5"/>
          <p:cNvSpPr/>
          <p:nvPr/>
        </p:nvSpPr>
        <p:spPr>
          <a:xfrm>
            <a:off x="0" y="5510520"/>
            <a:ext cx="3630600" cy="5069160"/>
          </a:xfrm>
          <a:custGeom>
            <a:avLst/>
            <a:gdLst>
              <a:gd name="textAreaLeft" fmla="*/ 0 w 3630600"/>
              <a:gd name="textAreaRight" fmla="*/ 3630960 w 3630600"/>
              <a:gd name="textAreaTop" fmla="*/ 0 h 5069160"/>
              <a:gd name="textAreaBottom" fmla="*/ 5069520 h 5069160"/>
            </a:gdLst>
            <a:ahLst/>
            <a:rect l="textAreaLeft" t="textAreaTop" r="textAreaRight" b="textAreaBottom"/>
            <a:pathLst>
              <a:path w="3630903" h="5069563">
                <a:moveTo>
                  <a:pt x="0" y="0"/>
                </a:moveTo>
                <a:lnTo>
                  <a:pt x="3630903" y="0"/>
                </a:lnTo>
                <a:lnTo>
                  <a:pt x="3630903" y="5069562"/>
                </a:lnTo>
                <a:lnTo>
                  <a:pt x="0" y="50695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4" t="-3" r="-4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grpSp>
        <p:nvGrpSpPr>
          <p:cNvPr id="41" name="Group 6"/>
          <p:cNvGrpSpPr/>
          <p:nvPr/>
        </p:nvGrpSpPr>
        <p:grpSpPr>
          <a:xfrm>
            <a:off x="6788520" y="3323520"/>
            <a:ext cx="11158200" cy="1631160"/>
            <a:chOff x="6788520" y="3323520"/>
            <a:chExt cx="11158200" cy="1631160"/>
          </a:xfrm>
        </p:grpSpPr>
        <p:sp>
          <p:nvSpPr>
            <p:cNvPr id="42" name="Freeform 7"/>
            <p:cNvSpPr/>
            <p:nvPr/>
          </p:nvSpPr>
          <p:spPr>
            <a:xfrm>
              <a:off x="6788520" y="3422160"/>
              <a:ext cx="11158200" cy="1532520"/>
            </a:xfrm>
            <a:custGeom>
              <a:avLst/>
              <a:gdLst>
                <a:gd name="textAreaLeft" fmla="*/ 0 w 11158200"/>
                <a:gd name="textAreaRight" fmla="*/ 11158560 w 11158200"/>
                <a:gd name="textAreaTop" fmla="*/ 0 h 1532520"/>
                <a:gd name="textAreaBottom" fmla="*/ 1532880 h 1532520"/>
              </a:gdLst>
              <a:ahLst/>
              <a:rect l="textAreaLeft" t="textAreaTop" r="textAreaRight" b="textAreaBottom"/>
              <a:pathLst>
                <a:path w="4308279" h="591910">
                  <a:moveTo>
                    <a:pt x="4308279" y="69381"/>
                  </a:moveTo>
                  <a:lnTo>
                    <a:pt x="4308279" y="522529"/>
                  </a:lnTo>
                  <a:cubicBezTo>
                    <a:pt x="4308279" y="560847"/>
                    <a:pt x="4277216" y="591910"/>
                    <a:pt x="4238898" y="591910"/>
                  </a:cubicBezTo>
                  <a:lnTo>
                    <a:pt x="69381" y="591910"/>
                  </a:lnTo>
                  <a:cubicBezTo>
                    <a:pt x="50980" y="591910"/>
                    <a:pt x="33333" y="584600"/>
                    <a:pt x="20321" y="571588"/>
                  </a:cubicBezTo>
                  <a:cubicBezTo>
                    <a:pt x="7310" y="558577"/>
                    <a:pt x="0" y="540930"/>
                    <a:pt x="0" y="522529"/>
                  </a:cubicBezTo>
                  <a:lnTo>
                    <a:pt x="0" y="69381"/>
                  </a:lnTo>
                  <a:cubicBezTo>
                    <a:pt x="0" y="50980"/>
                    <a:pt x="7310" y="33333"/>
                    <a:pt x="20321" y="20321"/>
                  </a:cubicBezTo>
                  <a:cubicBezTo>
                    <a:pt x="33333" y="7310"/>
                    <a:pt x="50980" y="0"/>
                    <a:pt x="69381" y="0"/>
                  </a:cubicBezTo>
                  <a:lnTo>
                    <a:pt x="4238898" y="0"/>
                  </a:lnTo>
                  <a:cubicBezTo>
                    <a:pt x="4257299" y="0"/>
                    <a:pt x="4274946" y="7310"/>
                    <a:pt x="4287957" y="20321"/>
                  </a:cubicBezTo>
                  <a:cubicBezTo>
                    <a:pt x="4300969" y="33333"/>
                    <a:pt x="4308279" y="50980"/>
                    <a:pt x="4308279" y="69381"/>
                  </a:cubicBezTo>
                  <a:close/>
                </a:path>
              </a:pathLst>
            </a:custGeom>
            <a:solidFill>
              <a:srgbClr val="003878">
                <a:alpha val="60000"/>
              </a:srgbClr>
            </a:solidFill>
            <a:ln cap="rnd" w="19050">
              <a:solidFill>
                <a:srgbClr val="ffffff">
                  <a:alpha val="6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43" name="TextBox 8"/>
            <p:cNvSpPr/>
            <p:nvPr/>
          </p:nvSpPr>
          <p:spPr>
            <a:xfrm>
              <a:off x="6788520" y="3323520"/>
              <a:ext cx="11158200" cy="163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4" name="TextBox 9"/>
          <p:cNvSpPr/>
          <p:nvPr/>
        </p:nvSpPr>
        <p:spPr>
          <a:xfrm>
            <a:off x="12094560" y="8179560"/>
            <a:ext cx="44755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59"/>
              </a:lnSpc>
            </a:pPr>
            <a:r>
              <a:rPr b="0" lang="en-US" sz="2400" strike="noStrike" u="none">
                <a:solidFill>
                  <a:srgbClr val="ffffff"/>
                </a:solidFill>
                <a:uFillTx/>
                <a:latin typeface="Open Sauce"/>
                <a:ea typeface="Open Sauce"/>
              </a:rPr>
              <a:t>🌐 </a:t>
            </a:r>
            <a:r>
              <a:rPr b="0" lang="en-US" sz="2400" strike="noStrike" u="none">
                <a:solidFill>
                  <a:srgbClr val="ffffff"/>
                </a:solidFill>
                <a:uFillTx/>
                <a:latin typeface="Open Sauce"/>
                <a:ea typeface="Open Sauce"/>
              </a:rPr>
              <a:t>Internet Connectivity</a:t>
            </a:r>
            <a:endParaRPr b="0" lang="en-US" sz="2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5" name="TextBox 10"/>
          <p:cNvSpPr/>
          <p:nvPr/>
        </p:nvSpPr>
        <p:spPr>
          <a:xfrm>
            <a:off x="7042680" y="6002640"/>
            <a:ext cx="4202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59"/>
              </a:lnSpc>
            </a:pPr>
            <a:r>
              <a:rPr b="0" lang="en-US" sz="2400" strike="noStrike" u="none">
                <a:solidFill>
                  <a:srgbClr val="ffffff"/>
                </a:solidFill>
                <a:uFillTx/>
                <a:latin typeface="Open Sauce"/>
                <a:ea typeface="Open Sauce"/>
              </a:rPr>
              <a:t>📹 </a:t>
            </a:r>
            <a:r>
              <a:rPr b="0" lang="en-US" sz="2400" strike="noStrike" u="none">
                <a:solidFill>
                  <a:srgbClr val="ffffff"/>
                </a:solidFill>
                <a:uFillTx/>
                <a:latin typeface="Open Sauce"/>
                <a:ea typeface="Open Sauce"/>
              </a:rPr>
              <a:t>Doctor Video Consultation</a:t>
            </a:r>
            <a:endParaRPr b="0" lang="en-US" sz="2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6" name="TextBox 11"/>
          <p:cNvSpPr/>
          <p:nvPr/>
        </p:nvSpPr>
        <p:spPr>
          <a:xfrm>
            <a:off x="7214760" y="8169840"/>
            <a:ext cx="42958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36"/>
              </a:lnSpc>
            </a:pPr>
            <a:r>
              <a:rPr b="0" lang="en-US" sz="2450" strike="noStrike" u="none">
                <a:solidFill>
                  <a:srgbClr val="ffffff"/>
                </a:solidFill>
                <a:uFillTx/>
                <a:latin typeface="Open Sauce"/>
                <a:ea typeface="Open Sauce"/>
              </a:rPr>
              <a:t>📋 </a:t>
            </a:r>
            <a:r>
              <a:rPr b="0" lang="en-US" sz="2450" strike="noStrike" u="none">
                <a:solidFill>
                  <a:srgbClr val="ffffff"/>
                </a:solidFill>
                <a:uFillTx/>
                <a:latin typeface="Open Sauce"/>
                <a:ea typeface="Open Sauce"/>
              </a:rPr>
              <a:t>Digital Health Record</a:t>
            </a:r>
            <a:endParaRPr b="0" lang="en-US" sz="24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47" name="Group 12"/>
          <p:cNvGrpSpPr/>
          <p:nvPr/>
        </p:nvGrpSpPr>
        <p:grpSpPr>
          <a:xfrm>
            <a:off x="6757200" y="7689600"/>
            <a:ext cx="11158200" cy="1631160"/>
            <a:chOff x="6757200" y="7689600"/>
            <a:chExt cx="11158200" cy="1631160"/>
          </a:xfrm>
        </p:grpSpPr>
        <p:sp>
          <p:nvSpPr>
            <p:cNvPr id="48" name="Freeform 13"/>
            <p:cNvSpPr/>
            <p:nvPr/>
          </p:nvSpPr>
          <p:spPr>
            <a:xfrm>
              <a:off x="6757200" y="7788240"/>
              <a:ext cx="11158200" cy="1532520"/>
            </a:xfrm>
            <a:custGeom>
              <a:avLst/>
              <a:gdLst>
                <a:gd name="textAreaLeft" fmla="*/ 0 w 11158200"/>
                <a:gd name="textAreaRight" fmla="*/ 11158560 w 11158200"/>
                <a:gd name="textAreaTop" fmla="*/ 0 h 1532520"/>
                <a:gd name="textAreaBottom" fmla="*/ 1532880 h 1532520"/>
              </a:gdLst>
              <a:ahLst/>
              <a:rect l="textAreaLeft" t="textAreaTop" r="textAreaRight" b="textAreaBottom"/>
              <a:pathLst>
                <a:path w="4308279" h="591910">
                  <a:moveTo>
                    <a:pt x="4308279" y="69381"/>
                  </a:moveTo>
                  <a:lnTo>
                    <a:pt x="4308279" y="522529"/>
                  </a:lnTo>
                  <a:cubicBezTo>
                    <a:pt x="4308279" y="560847"/>
                    <a:pt x="4277216" y="591910"/>
                    <a:pt x="4238898" y="591910"/>
                  </a:cubicBezTo>
                  <a:lnTo>
                    <a:pt x="69381" y="591910"/>
                  </a:lnTo>
                  <a:cubicBezTo>
                    <a:pt x="50980" y="591910"/>
                    <a:pt x="33333" y="584600"/>
                    <a:pt x="20321" y="571588"/>
                  </a:cubicBezTo>
                  <a:cubicBezTo>
                    <a:pt x="7310" y="558577"/>
                    <a:pt x="0" y="540930"/>
                    <a:pt x="0" y="522529"/>
                  </a:cubicBezTo>
                  <a:lnTo>
                    <a:pt x="0" y="69381"/>
                  </a:lnTo>
                  <a:cubicBezTo>
                    <a:pt x="0" y="50980"/>
                    <a:pt x="7310" y="33333"/>
                    <a:pt x="20321" y="20321"/>
                  </a:cubicBezTo>
                  <a:cubicBezTo>
                    <a:pt x="33333" y="7310"/>
                    <a:pt x="50980" y="0"/>
                    <a:pt x="69381" y="0"/>
                  </a:cubicBezTo>
                  <a:lnTo>
                    <a:pt x="4238898" y="0"/>
                  </a:lnTo>
                  <a:cubicBezTo>
                    <a:pt x="4257299" y="0"/>
                    <a:pt x="4274946" y="7310"/>
                    <a:pt x="4287957" y="20321"/>
                  </a:cubicBezTo>
                  <a:cubicBezTo>
                    <a:pt x="4300969" y="33333"/>
                    <a:pt x="4308279" y="50980"/>
                    <a:pt x="4308279" y="69381"/>
                  </a:cubicBezTo>
                  <a:close/>
                </a:path>
              </a:pathLst>
            </a:custGeom>
            <a:solidFill>
              <a:srgbClr val="003878">
                <a:alpha val="60000"/>
              </a:srgbClr>
            </a:solidFill>
            <a:ln cap="rnd" w="19050">
              <a:solidFill>
                <a:srgbClr val="ffffff">
                  <a:alpha val="6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49" name="TextBox 14"/>
            <p:cNvSpPr/>
            <p:nvPr/>
          </p:nvSpPr>
          <p:spPr>
            <a:xfrm>
              <a:off x="6757200" y="7689600"/>
              <a:ext cx="11158200" cy="163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0" name="Group 15"/>
          <p:cNvGrpSpPr/>
          <p:nvPr/>
        </p:nvGrpSpPr>
        <p:grpSpPr>
          <a:xfrm>
            <a:off x="6782760" y="5551560"/>
            <a:ext cx="11158200" cy="1631520"/>
            <a:chOff x="6782760" y="5551560"/>
            <a:chExt cx="11158200" cy="1631520"/>
          </a:xfrm>
        </p:grpSpPr>
        <p:sp>
          <p:nvSpPr>
            <p:cNvPr id="51" name="Freeform 16"/>
            <p:cNvSpPr/>
            <p:nvPr/>
          </p:nvSpPr>
          <p:spPr>
            <a:xfrm>
              <a:off x="6782760" y="5650560"/>
              <a:ext cx="11158200" cy="1532520"/>
            </a:xfrm>
            <a:custGeom>
              <a:avLst/>
              <a:gdLst>
                <a:gd name="textAreaLeft" fmla="*/ 0 w 11158200"/>
                <a:gd name="textAreaRight" fmla="*/ 11158560 w 11158200"/>
                <a:gd name="textAreaTop" fmla="*/ 0 h 1532520"/>
                <a:gd name="textAreaBottom" fmla="*/ 1532880 h 1532520"/>
              </a:gdLst>
              <a:ahLst/>
              <a:rect l="textAreaLeft" t="textAreaTop" r="textAreaRight" b="textAreaBottom"/>
              <a:pathLst>
                <a:path w="4308279" h="591910">
                  <a:moveTo>
                    <a:pt x="4308279" y="69381"/>
                  </a:moveTo>
                  <a:lnTo>
                    <a:pt x="4308279" y="522529"/>
                  </a:lnTo>
                  <a:cubicBezTo>
                    <a:pt x="4308279" y="560847"/>
                    <a:pt x="4277216" y="591910"/>
                    <a:pt x="4238898" y="591910"/>
                  </a:cubicBezTo>
                  <a:lnTo>
                    <a:pt x="69381" y="591910"/>
                  </a:lnTo>
                  <a:cubicBezTo>
                    <a:pt x="50980" y="591910"/>
                    <a:pt x="33333" y="584600"/>
                    <a:pt x="20321" y="571588"/>
                  </a:cubicBezTo>
                  <a:cubicBezTo>
                    <a:pt x="7310" y="558577"/>
                    <a:pt x="0" y="540930"/>
                    <a:pt x="0" y="522529"/>
                  </a:cubicBezTo>
                  <a:lnTo>
                    <a:pt x="0" y="69381"/>
                  </a:lnTo>
                  <a:cubicBezTo>
                    <a:pt x="0" y="50980"/>
                    <a:pt x="7310" y="33333"/>
                    <a:pt x="20321" y="20321"/>
                  </a:cubicBezTo>
                  <a:cubicBezTo>
                    <a:pt x="33333" y="7310"/>
                    <a:pt x="50980" y="0"/>
                    <a:pt x="69381" y="0"/>
                  </a:cubicBezTo>
                  <a:lnTo>
                    <a:pt x="4238898" y="0"/>
                  </a:lnTo>
                  <a:cubicBezTo>
                    <a:pt x="4257299" y="0"/>
                    <a:pt x="4274946" y="7310"/>
                    <a:pt x="4287957" y="20321"/>
                  </a:cubicBezTo>
                  <a:cubicBezTo>
                    <a:pt x="4300969" y="33333"/>
                    <a:pt x="4308279" y="50980"/>
                    <a:pt x="4308279" y="69381"/>
                  </a:cubicBezTo>
                  <a:close/>
                </a:path>
              </a:pathLst>
            </a:custGeom>
            <a:solidFill>
              <a:srgbClr val="003878">
                <a:alpha val="60000"/>
              </a:srgbClr>
            </a:solidFill>
            <a:ln cap="rnd" w="19050">
              <a:solidFill>
                <a:srgbClr val="ffffff">
                  <a:alpha val="6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52" name="TextBox 17"/>
            <p:cNvSpPr/>
            <p:nvPr/>
          </p:nvSpPr>
          <p:spPr>
            <a:xfrm>
              <a:off x="6782760" y="5551560"/>
              <a:ext cx="11158200" cy="163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3" name="Freeform 18"/>
          <p:cNvSpPr/>
          <p:nvPr/>
        </p:nvSpPr>
        <p:spPr>
          <a:xfrm>
            <a:off x="-550440" y="3293640"/>
            <a:ext cx="7592760" cy="5873040"/>
          </a:xfrm>
          <a:custGeom>
            <a:avLst/>
            <a:gdLst>
              <a:gd name="textAreaLeft" fmla="*/ 0 w 7592760"/>
              <a:gd name="textAreaRight" fmla="*/ 7593120 w 7592760"/>
              <a:gd name="textAreaTop" fmla="*/ 0 h 5873040"/>
              <a:gd name="textAreaBottom" fmla="*/ 5873400 h 5873040"/>
            </a:gdLst>
            <a:ahLst/>
            <a:rect l="textAreaLeft" t="textAreaTop" r="textAreaRight" b="textAreaBottom"/>
            <a:pathLst>
              <a:path w="7593200" h="5873282">
                <a:moveTo>
                  <a:pt x="0" y="0"/>
                </a:moveTo>
                <a:lnTo>
                  <a:pt x="7593200" y="0"/>
                </a:lnTo>
                <a:lnTo>
                  <a:pt x="7593200" y="5873281"/>
                </a:lnTo>
                <a:lnTo>
                  <a:pt x="0" y="58732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>
              <a:fillRect l="-2" t="-3" r="-2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4" name="TextBox 19"/>
          <p:cNvSpPr/>
          <p:nvPr/>
        </p:nvSpPr>
        <p:spPr>
          <a:xfrm>
            <a:off x="3121200" y="116640"/>
            <a:ext cx="12618720" cy="19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38"/>
              </a:lnSpc>
            </a:pPr>
            <a:r>
              <a:rPr b="1" lang="en-US" sz="5400" spc="-252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OUR SOLUTION</a:t>
            </a:r>
            <a:endParaRPr b="0" lang="en-US" sz="54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5238"/>
              </a:lnSpc>
            </a:pPr>
            <a:r>
              <a:rPr b="1" lang="en-US" sz="5400" spc="-252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MEET ROBO DOCTOR 🤖</a:t>
            </a:r>
            <a:endParaRPr b="0" lang="en-US" sz="54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5238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5" name="TextBox 20"/>
          <p:cNvSpPr/>
          <p:nvPr/>
        </p:nvSpPr>
        <p:spPr>
          <a:xfrm>
            <a:off x="6782760" y="3976200"/>
            <a:ext cx="42022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59"/>
              </a:lnSpc>
            </a:pPr>
            <a:r>
              <a:rPr b="0" lang="en-US" sz="2400" strike="noStrike" u="none">
                <a:solidFill>
                  <a:srgbClr val="737373"/>
                </a:solidFill>
                <a:uFillTx/>
                <a:latin typeface="Open Sauce"/>
                <a:ea typeface="Open Sauce"/>
              </a:rPr>
              <a:t>🩺 </a:t>
            </a:r>
            <a:r>
              <a:rPr b="0" lang="en-US" sz="2400" strike="noStrike" u="none">
                <a:solidFill>
                  <a:srgbClr val="737373"/>
                </a:solidFill>
                <a:uFillTx/>
                <a:latin typeface="Open Sauce"/>
                <a:ea typeface="Open Sauce"/>
              </a:rPr>
              <a:t>Health Screening</a:t>
            </a:r>
            <a:endParaRPr b="0" lang="en-US" sz="2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6" name="TextBox 21"/>
          <p:cNvSpPr/>
          <p:nvPr/>
        </p:nvSpPr>
        <p:spPr>
          <a:xfrm>
            <a:off x="12367800" y="3976200"/>
            <a:ext cx="42022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59"/>
              </a:lnSpc>
            </a:pPr>
            <a:r>
              <a:rPr b="0" lang="en-US" sz="2400" strike="noStrike" u="none">
                <a:solidFill>
                  <a:srgbClr val="737373"/>
                </a:solidFill>
                <a:uFillTx/>
                <a:latin typeface="Open Sauce"/>
                <a:ea typeface="Open Sauce"/>
              </a:rPr>
              <a:t>🩸 </a:t>
            </a:r>
            <a:r>
              <a:rPr b="0" lang="en-US" sz="2400" strike="noStrike" u="none">
                <a:solidFill>
                  <a:srgbClr val="737373"/>
                </a:solidFill>
                <a:uFillTx/>
                <a:latin typeface="Open Sauce"/>
                <a:ea typeface="Open Sauce"/>
              </a:rPr>
              <a:t>Diagnostic Support</a:t>
            </a:r>
            <a:endParaRPr b="0" lang="en-US" sz="24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7" name="TextBox 22"/>
          <p:cNvSpPr/>
          <p:nvPr/>
        </p:nvSpPr>
        <p:spPr>
          <a:xfrm>
            <a:off x="12483360" y="6184440"/>
            <a:ext cx="43326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64"/>
              </a:lnSpc>
            </a:pPr>
            <a:r>
              <a:rPr b="0" lang="en-US" sz="2470" strike="noStrike" u="none">
                <a:solidFill>
                  <a:srgbClr val="5a718c"/>
                </a:solidFill>
                <a:uFillTx/>
                <a:latin typeface="Open Sauce"/>
                <a:ea typeface="Open Sauce"/>
              </a:rPr>
              <a:t>🚨 </a:t>
            </a:r>
            <a:r>
              <a:rPr b="0" lang="en-US" sz="2470" strike="noStrike" u="none">
                <a:solidFill>
                  <a:srgbClr val="5a718c"/>
                </a:solidFill>
                <a:uFillTx/>
                <a:latin typeface="Open Sauce"/>
                <a:ea typeface="Open Sauce"/>
              </a:rPr>
              <a:t>Emergency Assistance</a:t>
            </a:r>
            <a:endParaRPr b="0" lang="en-US" sz="24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8" name="TextBox 23"/>
          <p:cNvSpPr/>
          <p:nvPr/>
        </p:nvSpPr>
        <p:spPr>
          <a:xfrm>
            <a:off x="10033200" y="2322000"/>
            <a:ext cx="76636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183"/>
              </a:lnSpc>
            </a:pPr>
            <a:r>
              <a:rPr b="1" lang="en-US" sz="3280" spc="-153" strike="noStrike" u="none">
                <a:solidFill>
                  <a:srgbClr val="a6a6a6"/>
                </a:solidFill>
                <a:uFillTx/>
                <a:latin typeface="Telegraf Bold"/>
                <a:ea typeface="Telegraf Bold"/>
              </a:rPr>
              <a:t>AI-POWERED HEALTHCARE FOR REMOTE &amp; TRIBAL COMMUNITIES</a:t>
            </a:r>
            <a:endParaRPr b="0" lang="en-US" sz="32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9" name="TextBox 24"/>
          <p:cNvSpPr/>
          <p:nvPr/>
        </p:nvSpPr>
        <p:spPr>
          <a:xfrm>
            <a:off x="439560" y="9277200"/>
            <a:ext cx="53625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25"/>
              </a:lnSpc>
            </a:pPr>
            <a:r>
              <a:rPr b="1" lang="en-US" sz="2300" spc="-108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SWARNA ANDHRA@2047 </a:t>
            </a:r>
            <a:endParaRPr b="0" lang="en-US" sz="23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60" name="Freeform 25"/>
          <p:cNvSpPr/>
          <p:nvPr/>
        </p:nvSpPr>
        <p:spPr>
          <a:xfrm>
            <a:off x="2816280" y="-6366240"/>
            <a:ext cx="7900920" cy="8034840"/>
          </a:xfrm>
          <a:custGeom>
            <a:avLst/>
            <a:gdLst>
              <a:gd name="textAreaLeft" fmla="*/ 0 w 7900920"/>
              <a:gd name="textAreaRight" fmla="*/ 7901280 w 7900920"/>
              <a:gd name="textAreaTop" fmla="*/ 0 h 8034840"/>
              <a:gd name="textAreaBottom" fmla="*/ 8035200 h 8034840"/>
            </a:gdLst>
            <a:ahLst/>
            <a:rect l="textAreaLeft" t="textAreaTop" r="textAreaRight" b="textAreaBottom"/>
            <a:pathLst>
              <a:path w="7901194" h="8035302">
                <a:moveTo>
                  <a:pt x="0" y="0"/>
                </a:moveTo>
                <a:lnTo>
                  <a:pt x="7901193" y="0"/>
                </a:lnTo>
                <a:lnTo>
                  <a:pt x="7901193" y="8035302"/>
                </a:lnTo>
                <a:lnTo>
                  <a:pt x="0" y="80353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  <a:alphaModFix amt="35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1" name="TextBox 26"/>
          <p:cNvSpPr/>
          <p:nvPr/>
        </p:nvSpPr>
        <p:spPr>
          <a:xfrm>
            <a:off x="13560840" y="9962640"/>
            <a:ext cx="53625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25"/>
              </a:lnSpc>
            </a:pPr>
            <a:r>
              <a:rPr b="1" lang="en-US" sz="2300" spc="-108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TRIBAL TECH INNOVATORS</a:t>
            </a:r>
            <a:endParaRPr b="0" lang="en-US" sz="23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2"/>
          <p:cNvGrpSpPr/>
          <p:nvPr/>
        </p:nvGrpSpPr>
        <p:grpSpPr>
          <a:xfrm>
            <a:off x="3421440" y="-2816640"/>
            <a:ext cx="15318360" cy="8202600"/>
            <a:chOff x="3421440" y="-2816640"/>
            <a:chExt cx="15318360" cy="8202600"/>
          </a:xfrm>
        </p:grpSpPr>
        <p:sp>
          <p:nvSpPr>
            <p:cNvPr id="63" name="Freeform 3"/>
            <p:cNvSpPr/>
            <p:nvPr/>
          </p:nvSpPr>
          <p:spPr>
            <a:xfrm rot="16200000">
              <a:off x="6979320" y="-637416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64" name="TextBox 4"/>
            <p:cNvSpPr/>
            <p:nvPr/>
          </p:nvSpPr>
          <p:spPr>
            <a:xfrm rot="16200000">
              <a:off x="7675560" y="-501084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5" name="Group 5"/>
          <p:cNvGrpSpPr/>
          <p:nvPr/>
        </p:nvGrpSpPr>
        <p:grpSpPr>
          <a:xfrm>
            <a:off x="7307280" y="4260600"/>
            <a:ext cx="15318360" cy="8202600"/>
            <a:chOff x="7307280" y="4260600"/>
            <a:chExt cx="15318360" cy="8202600"/>
          </a:xfrm>
        </p:grpSpPr>
        <p:sp>
          <p:nvSpPr>
            <p:cNvPr id="66" name="Freeform 6"/>
            <p:cNvSpPr/>
            <p:nvPr/>
          </p:nvSpPr>
          <p:spPr>
            <a:xfrm rot="5400000">
              <a:off x="10865160" y="70236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67" name="TextBox 7"/>
            <p:cNvSpPr/>
            <p:nvPr/>
          </p:nvSpPr>
          <p:spPr>
            <a:xfrm rot="5400000">
              <a:off x="11706120" y="206640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5913000" y="4537440"/>
            <a:ext cx="4159440" cy="1170720"/>
            <a:chOff x="5913000" y="4537440"/>
            <a:chExt cx="4159440" cy="1170720"/>
          </a:xfrm>
        </p:grpSpPr>
        <p:sp>
          <p:nvSpPr>
            <p:cNvPr id="69" name="Freeform 9"/>
            <p:cNvSpPr/>
            <p:nvPr/>
          </p:nvSpPr>
          <p:spPr>
            <a:xfrm>
              <a:off x="5913000" y="4574160"/>
              <a:ext cx="4159440" cy="1134000"/>
            </a:xfrm>
            <a:custGeom>
              <a:avLst/>
              <a:gdLst>
                <a:gd name="textAreaLeft" fmla="*/ 0 w 4159440"/>
                <a:gd name="textAreaRight" fmla="*/ 4159800 w 4159440"/>
                <a:gd name="textAreaTop" fmla="*/ 0 h 1134000"/>
                <a:gd name="textAreaBottom" fmla="*/ 1134360 h 1134000"/>
              </a:gdLst>
              <a:ahLst/>
              <a:rect l="textAreaLeft" t="textAreaTop" r="textAreaRight" b="textAreaBottom"/>
              <a:pathLst>
                <a:path w="4308279" h="1174960">
                  <a:moveTo>
                    <a:pt x="4308279" y="186115"/>
                  </a:moveTo>
                  <a:lnTo>
                    <a:pt x="4308279" y="988845"/>
                  </a:lnTo>
                  <a:cubicBezTo>
                    <a:pt x="4308279" y="1038205"/>
                    <a:pt x="4288670" y="1085544"/>
                    <a:pt x="4253767" y="1120448"/>
                  </a:cubicBezTo>
                  <a:cubicBezTo>
                    <a:pt x="4218863" y="1155351"/>
                    <a:pt x="4171524" y="1174960"/>
                    <a:pt x="4122164" y="1174960"/>
                  </a:cubicBezTo>
                  <a:lnTo>
                    <a:pt x="186115" y="1174960"/>
                  </a:lnTo>
                  <a:cubicBezTo>
                    <a:pt x="136754" y="1174960"/>
                    <a:pt x="89415" y="1155351"/>
                    <a:pt x="54512" y="1120448"/>
                  </a:cubicBezTo>
                  <a:cubicBezTo>
                    <a:pt x="19608" y="1085544"/>
                    <a:pt x="0" y="1038205"/>
                    <a:pt x="0" y="988845"/>
                  </a:cubicBezTo>
                  <a:lnTo>
                    <a:pt x="0" y="186115"/>
                  </a:lnTo>
                  <a:cubicBezTo>
                    <a:pt x="0" y="136754"/>
                    <a:pt x="19608" y="89415"/>
                    <a:pt x="54512" y="54512"/>
                  </a:cubicBezTo>
                  <a:cubicBezTo>
                    <a:pt x="89415" y="19608"/>
                    <a:pt x="136754" y="0"/>
                    <a:pt x="186115" y="0"/>
                  </a:cubicBezTo>
                  <a:lnTo>
                    <a:pt x="4122164" y="0"/>
                  </a:lnTo>
                  <a:cubicBezTo>
                    <a:pt x="4171524" y="0"/>
                    <a:pt x="4218863" y="19608"/>
                    <a:pt x="4253767" y="54512"/>
                  </a:cubicBezTo>
                  <a:cubicBezTo>
                    <a:pt x="4288670" y="89415"/>
                    <a:pt x="4308279" y="136754"/>
                    <a:pt x="4308279" y="186115"/>
                  </a:cubicBezTo>
                  <a:close/>
                </a:path>
              </a:pathLst>
            </a:custGeom>
            <a:solidFill>
              <a:srgbClr val="ffffff">
                <a:alpha val="79000"/>
              </a:srgbClr>
            </a:solidFill>
            <a:ln cap="rnd" w="19050">
              <a:solidFill>
                <a:srgbClr val="ffffff">
                  <a:alpha val="79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70" name="TextBox 10"/>
            <p:cNvSpPr/>
            <p:nvPr/>
          </p:nvSpPr>
          <p:spPr>
            <a:xfrm>
              <a:off x="5913000" y="4537440"/>
              <a:ext cx="4159440" cy="117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1" name="Group 11"/>
          <p:cNvGrpSpPr/>
          <p:nvPr/>
        </p:nvGrpSpPr>
        <p:grpSpPr>
          <a:xfrm>
            <a:off x="274320" y="4638960"/>
            <a:ext cx="4350600" cy="1183320"/>
            <a:chOff x="274320" y="4638960"/>
            <a:chExt cx="4350600" cy="1183320"/>
          </a:xfrm>
        </p:grpSpPr>
        <p:sp>
          <p:nvSpPr>
            <p:cNvPr id="72" name="Freeform 12"/>
            <p:cNvSpPr/>
            <p:nvPr/>
          </p:nvSpPr>
          <p:spPr>
            <a:xfrm>
              <a:off x="274320" y="4675680"/>
              <a:ext cx="4350600" cy="1146600"/>
            </a:xfrm>
            <a:custGeom>
              <a:avLst/>
              <a:gdLst>
                <a:gd name="textAreaLeft" fmla="*/ 0 w 4350600"/>
                <a:gd name="textAreaRight" fmla="*/ 4350960 w 4350600"/>
                <a:gd name="textAreaTop" fmla="*/ 0 h 1146600"/>
                <a:gd name="textAreaBottom" fmla="*/ 1146960 h 1146600"/>
              </a:gdLst>
              <a:ahLst/>
              <a:rect l="textAreaLeft" t="textAreaTop" r="textAreaRight" b="textAreaBottom"/>
              <a:pathLst>
                <a:path w="4506502" h="1188134">
                  <a:moveTo>
                    <a:pt x="4506502" y="177929"/>
                  </a:moveTo>
                  <a:lnTo>
                    <a:pt x="4506502" y="1010205"/>
                  </a:lnTo>
                  <a:cubicBezTo>
                    <a:pt x="4506502" y="1057395"/>
                    <a:pt x="4487756" y="1102652"/>
                    <a:pt x="4454388" y="1136020"/>
                  </a:cubicBezTo>
                  <a:cubicBezTo>
                    <a:pt x="4421020" y="1169388"/>
                    <a:pt x="4375764" y="1188134"/>
                    <a:pt x="4328574" y="1188134"/>
                  </a:cubicBezTo>
                  <a:lnTo>
                    <a:pt x="177929" y="1188134"/>
                  </a:lnTo>
                  <a:cubicBezTo>
                    <a:pt x="130739" y="1188134"/>
                    <a:pt x="85482" y="1169388"/>
                    <a:pt x="52114" y="1136020"/>
                  </a:cubicBezTo>
                  <a:cubicBezTo>
                    <a:pt x="18746" y="1102652"/>
                    <a:pt x="0" y="1057395"/>
                    <a:pt x="0" y="1010205"/>
                  </a:cubicBezTo>
                  <a:lnTo>
                    <a:pt x="0" y="177929"/>
                  </a:lnTo>
                  <a:cubicBezTo>
                    <a:pt x="0" y="130739"/>
                    <a:pt x="18746" y="85482"/>
                    <a:pt x="52114" y="52114"/>
                  </a:cubicBezTo>
                  <a:cubicBezTo>
                    <a:pt x="85482" y="18746"/>
                    <a:pt x="130739" y="0"/>
                    <a:pt x="177929" y="0"/>
                  </a:cubicBezTo>
                  <a:lnTo>
                    <a:pt x="4328574" y="0"/>
                  </a:lnTo>
                  <a:cubicBezTo>
                    <a:pt x="4375764" y="0"/>
                    <a:pt x="4421020" y="18746"/>
                    <a:pt x="4454388" y="52114"/>
                  </a:cubicBezTo>
                  <a:cubicBezTo>
                    <a:pt x="4487756" y="85482"/>
                    <a:pt x="4506502" y="130739"/>
                    <a:pt x="4506502" y="177929"/>
                  </a:cubicBezTo>
                  <a:close/>
                </a:path>
              </a:pathLst>
            </a:custGeom>
            <a:solidFill>
              <a:srgbClr val="ffffff">
                <a:alpha val="79000"/>
              </a:srgbClr>
            </a:solidFill>
            <a:ln cap="rnd" w="19050">
              <a:solidFill>
                <a:srgbClr val="ffffff">
                  <a:alpha val="79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73" name="TextBox 13"/>
            <p:cNvSpPr/>
            <p:nvPr/>
          </p:nvSpPr>
          <p:spPr>
            <a:xfrm>
              <a:off x="274320" y="4638960"/>
              <a:ext cx="4350600" cy="118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4" name="Group 14"/>
          <p:cNvGrpSpPr/>
          <p:nvPr/>
        </p:nvGrpSpPr>
        <p:grpSpPr>
          <a:xfrm>
            <a:off x="274320" y="6439680"/>
            <a:ext cx="4159440" cy="1170720"/>
            <a:chOff x="274320" y="6439680"/>
            <a:chExt cx="4159440" cy="1170720"/>
          </a:xfrm>
        </p:grpSpPr>
        <p:sp>
          <p:nvSpPr>
            <p:cNvPr id="75" name="Freeform 15"/>
            <p:cNvSpPr/>
            <p:nvPr/>
          </p:nvSpPr>
          <p:spPr>
            <a:xfrm>
              <a:off x="274320" y="6476400"/>
              <a:ext cx="4159440" cy="1134000"/>
            </a:xfrm>
            <a:custGeom>
              <a:avLst/>
              <a:gdLst>
                <a:gd name="textAreaLeft" fmla="*/ 0 w 4159440"/>
                <a:gd name="textAreaRight" fmla="*/ 4159800 w 4159440"/>
                <a:gd name="textAreaTop" fmla="*/ 0 h 1134000"/>
                <a:gd name="textAreaBottom" fmla="*/ 1134360 h 1134000"/>
              </a:gdLst>
              <a:ahLst/>
              <a:rect l="textAreaLeft" t="textAreaTop" r="textAreaRight" b="textAreaBottom"/>
              <a:pathLst>
                <a:path w="4308279" h="1174960">
                  <a:moveTo>
                    <a:pt x="4308279" y="186115"/>
                  </a:moveTo>
                  <a:lnTo>
                    <a:pt x="4308279" y="988845"/>
                  </a:lnTo>
                  <a:cubicBezTo>
                    <a:pt x="4308279" y="1038205"/>
                    <a:pt x="4288670" y="1085544"/>
                    <a:pt x="4253767" y="1120448"/>
                  </a:cubicBezTo>
                  <a:cubicBezTo>
                    <a:pt x="4218863" y="1155351"/>
                    <a:pt x="4171524" y="1174960"/>
                    <a:pt x="4122164" y="1174960"/>
                  </a:cubicBezTo>
                  <a:lnTo>
                    <a:pt x="186115" y="1174960"/>
                  </a:lnTo>
                  <a:cubicBezTo>
                    <a:pt x="136754" y="1174960"/>
                    <a:pt x="89415" y="1155351"/>
                    <a:pt x="54512" y="1120448"/>
                  </a:cubicBezTo>
                  <a:cubicBezTo>
                    <a:pt x="19608" y="1085544"/>
                    <a:pt x="0" y="1038205"/>
                    <a:pt x="0" y="988845"/>
                  </a:cubicBezTo>
                  <a:lnTo>
                    <a:pt x="0" y="186115"/>
                  </a:lnTo>
                  <a:cubicBezTo>
                    <a:pt x="0" y="136754"/>
                    <a:pt x="19608" y="89415"/>
                    <a:pt x="54512" y="54512"/>
                  </a:cubicBezTo>
                  <a:cubicBezTo>
                    <a:pt x="89415" y="19608"/>
                    <a:pt x="136754" y="0"/>
                    <a:pt x="186115" y="0"/>
                  </a:cubicBezTo>
                  <a:lnTo>
                    <a:pt x="4122164" y="0"/>
                  </a:lnTo>
                  <a:cubicBezTo>
                    <a:pt x="4171524" y="0"/>
                    <a:pt x="4218863" y="19608"/>
                    <a:pt x="4253767" y="54512"/>
                  </a:cubicBezTo>
                  <a:cubicBezTo>
                    <a:pt x="4288670" y="89415"/>
                    <a:pt x="4308279" y="136754"/>
                    <a:pt x="4308279" y="186115"/>
                  </a:cubicBezTo>
                  <a:close/>
                </a:path>
              </a:pathLst>
            </a:custGeom>
            <a:solidFill>
              <a:srgbClr val="ffffff">
                <a:alpha val="79000"/>
              </a:srgbClr>
            </a:solidFill>
            <a:ln cap="rnd" w="19050">
              <a:solidFill>
                <a:srgbClr val="ffffff">
                  <a:alpha val="79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76" name="TextBox 16"/>
            <p:cNvSpPr/>
            <p:nvPr/>
          </p:nvSpPr>
          <p:spPr>
            <a:xfrm>
              <a:off x="274320" y="6439680"/>
              <a:ext cx="4159440" cy="117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7" name="Group 17"/>
          <p:cNvGrpSpPr/>
          <p:nvPr/>
        </p:nvGrpSpPr>
        <p:grpSpPr>
          <a:xfrm>
            <a:off x="274320" y="8458920"/>
            <a:ext cx="4159440" cy="1170720"/>
            <a:chOff x="274320" y="8458920"/>
            <a:chExt cx="4159440" cy="1170720"/>
          </a:xfrm>
        </p:grpSpPr>
        <p:sp>
          <p:nvSpPr>
            <p:cNvPr id="78" name="Freeform 18"/>
            <p:cNvSpPr/>
            <p:nvPr/>
          </p:nvSpPr>
          <p:spPr>
            <a:xfrm>
              <a:off x="274320" y="8495640"/>
              <a:ext cx="4159440" cy="1134000"/>
            </a:xfrm>
            <a:custGeom>
              <a:avLst/>
              <a:gdLst>
                <a:gd name="textAreaLeft" fmla="*/ 0 w 4159440"/>
                <a:gd name="textAreaRight" fmla="*/ 4159800 w 4159440"/>
                <a:gd name="textAreaTop" fmla="*/ 0 h 1134000"/>
                <a:gd name="textAreaBottom" fmla="*/ 1134360 h 1134000"/>
              </a:gdLst>
              <a:ahLst/>
              <a:rect l="textAreaLeft" t="textAreaTop" r="textAreaRight" b="textAreaBottom"/>
              <a:pathLst>
                <a:path w="4308279" h="1174960">
                  <a:moveTo>
                    <a:pt x="4308279" y="186115"/>
                  </a:moveTo>
                  <a:lnTo>
                    <a:pt x="4308279" y="988845"/>
                  </a:lnTo>
                  <a:cubicBezTo>
                    <a:pt x="4308279" y="1038205"/>
                    <a:pt x="4288670" y="1085544"/>
                    <a:pt x="4253767" y="1120448"/>
                  </a:cubicBezTo>
                  <a:cubicBezTo>
                    <a:pt x="4218863" y="1155351"/>
                    <a:pt x="4171524" y="1174960"/>
                    <a:pt x="4122164" y="1174960"/>
                  </a:cubicBezTo>
                  <a:lnTo>
                    <a:pt x="186115" y="1174960"/>
                  </a:lnTo>
                  <a:cubicBezTo>
                    <a:pt x="136754" y="1174960"/>
                    <a:pt x="89415" y="1155351"/>
                    <a:pt x="54512" y="1120448"/>
                  </a:cubicBezTo>
                  <a:cubicBezTo>
                    <a:pt x="19608" y="1085544"/>
                    <a:pt x="0" y="1038205"/>
                    <a:pt x="0" y="988845"/>
                  </a:cubicBezTo>
                  <a:lnTo>
                    <a:pt x="0" y="186115"/>
                  </a:lnTo>
                  <a:cubicBezTo>
                    <a:pt x="0" y="136754"/>
                    <a:pt x="19608" y="89415"/>
                    <a:pt x="54512" y="54512"/>
                  </a:cubicBezTo>
                  <a:cubicBezTo>
                    <a:pt x="89415" y="19608"/>
                    <a:pt x="136754" y="0"/>
                    <a:pt x="186115" y="0"/>
                  </a:cubicBezTo>
                  <a:lnTo>
                    <a:pt x="4122164" y="0"/>
                  </a:lnTo>
                  <a:cubicBezTo>
                    <a:pt x="4171524" y="0"/>
                    <a:pt x="4218863" y="19608"/>
                    <a:pt x="4253767" y="54512"/>
                  </a:cubicBezTo>
                  <a:cubicBezTo>
                    <a:pt x="4288670" y="89415"/>
                    <a:pt x="4308279" y="136754"/>
                    <a:pt x="4308279" y="186115"/>
                  </a:cubicBezTo>
                  <a:close/>
                </a:path>
              </a:pathLst>
            </a:custGeom>
            <a:solidFill>
              <a:srgbClr val="ffffff">
                <a:alpha val="79000"/>
              </a:srgbClr>
            </a:solidFill>
            <a:ln cap="rnd" w="19050">
              <a:solidFill>
                <a:srgbClr val="ffffff">
                  <a:alpha val="79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79" name="TextBox 19"/>
            <p:cNvSpPr/>
            <p:nvPr/>
          </p:nvSpPr>
          <p:spPr>
            <a:xfrm>
              <a:off x="274320" y="8458920"/>
              <a:ext cx="4159440" cy="117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0" name="Group 20"/>
          <p:cNvGrpSpPr/>
          <p:nvPr/>
        </p:nvGrpSpPr>
        <p:grpSpPr>
          <a:xfrm>
            <a:off x="6075000" y="8325360"/>
            <a:ext cx="4159440" cy="1170720"/>
            <a:chOff x="6075000" y="8325360"/>
            <a:chExt cx="4159440" cy="1170720"/>
          </a:xfrm>
        </p:grpSpPr>
        <p:sp>
          <p:nvSpPr>
            <p:cNvPr id="81" name="Freeform 21"/>
            <p:cNvSpPr/>
            <p:nvPr/>
          </p:nvSpPr>
          <p:spPr>
            <a:xfrm>
              <a:off x="6075000" y="8362080"/>
              <a:ext cx="4159440" cy="1134000"/>
            </a:xfrm>
            <a:custGeom>
              <a:avLst/>
              <a:gdLst>
                <a:gd name="textAreaLeft" fmla="*/ 0 w 4159440"/>
                <a:gd name="textAreaRight" fmla="*/ 4159800 w 4159440"/>
                <a:gd name="textAreaTop" fmla="*/ 0 h 1134000"/>
                <a:gd name="textAreaBottom" fmla="*/ 1134360 h 1134000"/>
              </a:gdLst>
              <a:ahLst/>
              <a:rect l="textAreaLeft" t="textAreaTop" r="textAreaRight" b="textAreaBottom"/>
              <a:pathLst>
                <a:path w="4308279" h="1174960">
                  <a:moveTo>
                    <a:pt x="4308279" y="186115"/>
                  </a:moveTo>
                  <a:lnTo>
                    <a:pt x="4308279" y="988845"/>
                  </a:lnTo>
                  <a:cubicBezTo>
                    <a:pt x="4308279" y="1038205"/>
                    <a:pt x="4288670" y="1085544"/>
                    <a:pt x="4253767" y="1120448"/>
                  </a:cubicBezTo>
                  <a:cubicBezTo>
                    <a:pt x="4218863" y="1155351"/>
                    <a:pt x="4171524" y="1174960"/>
                    <a:pt x="4122164" y="1174960"/>
                  </a:cubicBezTo>
                  <a:lnTo>
                    <a:pt x="186115" y="1174960"/>
                  </a:lnTo>
                  <a:cubicBezTo>
                    <a:pt x="136754" y="1174960"/>
                    <a:pt x="89415" y="1155351"/>
                    <a:pt x="54512" y="1120448"/>
                  </a:cubicBezTo>
                  <a:cubicBezTo>
                    <a:pt x="19608" y="1085544"/>
                    <a:pt x="0" y="1038205"/>
                    <a:pt x="0" y="988845"/>
                  </a:cubicBezTo>
                  <a:lnTo>
                    <a:pt x="0" y="186115"/>
                  </a:lnTo>
                  <a:cubicBezTo>
                    <a:pt x="0" y="136754"/>
                    <a:pt x="19608" y="89415"/>
                    <a:pt x="54512" y="54512"/>
                  </a:cubicBezTo>
                  <a:cubicBezTo>
                    <a:pt x="89415" y="19608"/>
                    <a:pt x="136754" y="0"/>
                    <a:pt x="186115" y="0"/>
                  </a:cubicBezTo>
                  <a:lnTo>
                    <a:pt x="4122164" y="0"/>
                  </a:lnTo>
                  <a:cubicBezTo>
                    <a:pt x="4171524" y="0"/>
                    <a:pt x="4218863" y="19608"/>
                    <a:pt x="4253767" y="54512"/>
                  </a:cubicBezTo>
                  <a:cubicBezTo>
                    <a:pt x="4288670" y="89415"/>
                    <a:pt x="4308279" y="136754"/>
                    <a:pt x="4308279" y="186115"/>
                  </a:cubicBezTo>
                  <a:close/>
                </a:path>
              </a:pathLst>
            </a:custGeom>
            <a:solidFill>
              <a:srgbClr val="ffffff">
                <a:alpha val="79000"/>
              </a:srgbClr>
            </a:solidFill>
            <a:ln cap="rnd" w="19050">
              <a:solidFill>
                <a:srgbClr val="ffffff">
                  <a:alpha val="79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82" name="TextBox 22"/>
            <p:cNvSpPr/>
            <p:nvPr/>
          </p:nvSpPr>
          <p:spPr>
            <a:xfrm>
              <a:off x="6075000" y="8325360"/>
              <a:ext cx="4159440" cy="117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3" name="Group 23"/>
          <p:cNvGrpSpPr/>
          <p:nvPr/>
        </p:nvGrpSpPr>
        <p:grpSpPr>
          <a:xfrm>
            <a:off x="5913000" y="6439680"/>
            <a:ext cx="4159440" cy="1170720"/>
            <a:chOff x="5913000" y="6439680"/>
            <a:chExt cx="4159440" cy="1170720"/>
          </a:xfrm>
        </p:grpSpPr>
        <p:sp>
          <p:nvSpPr>
            <p:cNvPr id="84" name="Freeform 24"/>
            <p:cNvSpPr/>
            <p:nvPr/>
          </p:nvSpPr>
          <p:spPr>
            <a:xfrm>
              <a:off x="5913000" y="6476400"/>
              <a:ext cx="4159440" cy="1134000"/>
            </a:xfrm>
            <a:custGeom>
              <a:avLst/>
              <a:gdLst>
                <a:gd name="textAreaLeft" fmla="*/ 0 w 4159440"/>
                <a:gd name="textAreaRight" fmla="*/ 4159800 w 4159440"/>
                <a:gd name="textAreaTop" fmla="*/ 0 h 1134000"/>
                <a:gd name="textAreaBottom" fmla="*/ 1134360 h 1134000"/>
              </a:gdLst>
              <a:ahLst/>
              <a:rect l="textAreaLeft" t="textAreaTop" r="textAreaRight" b="textAreaBottom"/>
              <a:pathLst>
                <a:path w="4308279" h="1174960">
                  <a:moveTo>
                    <a:pt x="4308279" y="186115"/>
                  </a:moveTo>
                  <a:lnTo>
                    <a:pt x="4308279" y="988845"/>
                  </a:lnTo>
                  <a:cubicBezTo>
                    <a:pt x="4308279" y="1038205"/>
                    <a:pt x="4288670" y="1085544"/>
                    <a:pt x="4253767" y="1120448"/>
                  </a:cubicBezTo>
                  <a:cubicBezTo>
                    <a:pt x="4218863" y="1155351"/>
                    <a:pt x="4171524" y="1174960"/>
                    <a:pt x="4122164" y="1174960"/>
                  </a:cubicBezTo>
                  <a:lnTo>
                    <a:pt x="186115" y="1174960"/>
                  </a:lnTo>
                  <a:cubicBezTo>
                    <a:pt x="136754" y="1174960"/>
                    <a:pt x="89415" y="1155351"/>
                    <a:pt x="54512" y="1120448"/>
                  </a:cubicBezTo>
                  <a:cubicBezTo>
                    <a:pt x="19608" y="1085544"/>
                    <a:pt x="0" y="1038205"/>
                    <a:pt x="0" y="988845"/>
                  </a:cubicBezTo>
                  <a:lnTo>
                    <a:pt x="0" y="186115"/>
                  </a:lnTo>
                  <a:cubicBezTo>
                    <a:pt x="0" y="136754"/>
                    <a:pt x="19608" y="89415"/>
                    <a:pt x="54512" y="54512"/>
                  </a:cubicBezTo>
                  <a:cubicBezTo>
                    <a:pt x="89415" y="19608"/>
                    <a:pt x="136754" y="0"/>
                    <a:pt x="186115" y="0"/>
                  </a:cubicBezTo>
                  <a:lnTo>
                    <a:pt x="4122164" y="0"/>
                  </a:lnTo>
                  <a:cubicBezTo>
                    <a:pt x="4171524" y="0"/>
                    <a:pt x="4218863" y="19608"/>
                    <a:pt x="4253767" y="54512"/>
                  </a:cubicBezTo>
                  <a:cubicBezTo>
                    <a:pt x="4288670" y="89415"/>
                    <a:pt x="4308279" y="136754"/>
                    <a:pt x="4308279" y="186115"/>
                  </a:cubicBezTo>
                  <a:close/>
                </a:path>
              </a:pathLst>
            </a:custGeom>
            <a:solidFill>
              <a:srgbClr val="ffffff">
                <a:alpha val="79000"/>
              </a:srgbClr>
            </a:solidFill>
            <a:ln cap="rnd" w="19050">
              <a:solidFill>
                <a:srgbClr val="ffffff">
                  <a:alpha val="79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85" name="TextBox 25"/>
            <p:cNvSpPr/>
            <p:nvPr/>
          </p:nvSpPr>
          <p:spPr>
            <a:xfrm>
              <a:off x="5913000" y="6439680"/>
              <a:ext cx="4159440" cy="117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86" name="Freeform 26"/>
          <p:cNvSpPr/>
          <p:nvPr/>
        </p:nvSpPr>
        <p:spPr>
          <a:xfrm>
            <a:off x="11644560" y="3465000"/>
            <a:ext cx="6643080" cy="5683680"/>
          </a:xfrm>
          <a:custGeom>
            <a:avLst/>
            <a:gdLst>
              <a:gd name="textAreaLeft" fmla="*/ 0 w 6643080"/>
              <a:gd name="textAreaRight" fmla="*/ 6643440 w 6643080"/>
              <a:gd name="textAreaTop" fmla="*/ 0 h 5683680"/>
              <a:gd name="textAreaBottom" fmla="*/ 5684040 h 5683680"/>
            </a:gdLst>
            <a:ahLst/>
            <a:rect l="textAreaLeft" t="textAreaTop" r="textAreaRight" b="textAreaBottom"/>
            <a:pathLst>
              <a:path w="6643615" h="5684136">
                <a:moveTo>
                  <a:pt x="0" y="0"/>
                </a:moveTo>
                <a:lnTo>
                  <a:pt x="6643615" y="0"/>
                </a:lnTo>
                <a:lnTo>
                  <a:pt x="6643615" y="5684136"/>
                </a:lnTo>
                <a:lnTo>
                  <a:pt x="0" y="5684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7" name="TextBox 27"/>
          <p:cNvSpPr/>
          <p:nvPr/>
        </p:nvSpPr>
        <p:spPr>
          <a:xfrm>
            <a:off x="137160" y="259920"/>
            <a:ext cx="16233840" cy="20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260"/>
              </a:lnSpc>
            </a:pPr>
            <a:r>
              <a:rPr b="1" lang="en-US" sz="9280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HOW ROBO DOCTOR WORKS-</a:t>
            </a:r>
            <a:endParaRPr b="0" lang="en-US" sz="92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8" name="TextBox 28"/>
          <p:cNvSpPr/>
          <p:nvPr/>
        </p:nvSpPr>
        <p:spPr>
          <a:xfrm>
            <a:off x="627120" y="4781520"/>
            <a:ext cx="34221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57"/>
              </a:lnSpc>
            </a:pPr>
            <a:r>
              <a:rPr b="1" lang="en-US" sz="439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👤 </a:t>
            </a:r>
            <a:r>
              <a:rPr b="1" lang="en-US" sz="439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PATIENT</a:t>
            </a:r>
            <a:endParaRPr b="0" lang="en-US" sz="439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9" name="TextBox 29"/>
          <p:cNvSpPr/>
          <p:nvPr/>
        </p:nvSpPr>
        <p:spPr>
          <a:xfrm>
            <a:off x="6095520" y="4819320"/>
            <a:ext cx="38872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73"/>
              </a:lnSpc>
            </a:pPr>
            <a:r>
              <a:rPr b="1" lang="en-US" sz="298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 🪪 </a:t>
            </a:r>
            <a:r>
              <a:rPr b="1" lang="en-US" sz="298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REGISTRATION</a:t>
            </a:r>
            <a:endParaRPr b="0" lang="en-US" sz="29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0" name="TextBox 30"/>
          <p:cNvSpPr/>
          <p:nvPr/>
        </p:nvSpPr>
        <p:spPr>
          <a:xfrm>
            <a:off x="6075000" y="6575760"/>
            <a:ext cx="372312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57"/>
              </a:lnSpc>
            </a:pPr>
            <a:r>
              <a:rPr b="1" lang="en-US" sz="439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🩸 </a:t>
            </a:r>
            <a:r>
              <a:rPr b="1" lang="en-US" sz="439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TESTING</a:t>
            </a:r>
            <a:endParaRPr b="0" lang="en-US" sz="439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1" name="TextBox 31"/>
          <p:cNvSpPr/>
          <p:nvPr/>
        </p:nvSpPr>
        <p:spPr>
          <a:xfrm>
            <a:off x="518760" y="6671520"/>
            <a:ext cx="363852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23"/>
              </a:lnSpc>
            </a:pPr>
            <a:r>
              <a:rPr b="1" lang="en-US" sz="338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 ❤️ </a:t>
            </a:r>
            <a:r>
              <a:rPr b="1" lang="en-US" sz="338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SCREENING</a:t>
            </a:r>
            <a:endParaRPr b="0" lang="en-US" sz="33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2" name="TextBox 32"/>
          <p:cNvSpPr/>
          <p:nvPr/>
        </p:nvSpPr>
        <p:spPr>
          <a:xfrm>
            <a:off x="428040" y="8667000"/>
            <a:ext cx="385272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57"/>
              </a:lnSpc>
            </a:pPr>
            <a:r>
              <a:rPr b="1" lang="en-US" sz="439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📊 </a:t>
            </a:r>
            <a:r>
              <a:rPr b="1" lang="en-US" sz="439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ANALYSIS</a:t>
            </a:r>
            <a:endParaRPr b="0" lang="en-US" sz="439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3" name="TextBox 33"/>
          <p:cNvSpPr/>
          <p:nvPr/>
        </p:nvSpPr>
        <p:spPr>
          <a:xfrm>
            <a:off x="6229800" y="8519040"/>
            <a:ext cx="372312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57"/>
              </a:lnSpc>
            </a:pPr>
            <a:r>
              <a:rPr b="1" lang="en-US" sz="439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👨‍⚕️ </a:t>
            </a:r>
            <a:r>
              <a:rPr b="1" lang="en-US" sz="4390" strike="noStrike" u="none">
                <a:solidFill>
                  <a:srgbClr val="010914"/>
                </a:solidFill>
                <a:uFillTx/>
                <a:latin typeface="Telegraf Bold"/>
                <a:ea typeface="Telegraf Bold"/>
              </a:rPr>
              <a:t>DOCTOR</a:t>
            </a:r>
            <a:endParaRPr b="0" lang="en-US" sz="439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4" name="TextBox 34"/>
          <p:cNvSpPr/>
          <p:nvPr/>
        </p:nvSpPr>
        <p:spPr>
          <a:xfrm>
            <a:off x="4982400" y="1572480"/>
            <a:ext cx="1275948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855"/>
              </a:lnSpc>
            </a:pPr>
            <a:r>
              <a:rPr b="1" lang="en-US" sz="2760" strike="noStrike" u="none">
                <a:solidFill>
                  <a:srgbClr val="a6a6a6"/>
                </a:solidFill>
                <a:uFillTx/>
                <a:latin typeface="Telegraf Bold"/>
                <a:ea typeface="Telegraf Bold"/>
              </a:rPr>
              <a:t>FROM FIRST INTERACTION TO DOCTOR-ASSISTED HEALTHCARE </a:t>
            </a:r>
            <a:endParaRPr b="0" lang="en-US" sz="276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5" name="TextBox 35"/>
          <p:cNvSpPr/>
          <p:nvPr/>
        </p:nvSpPr>
        <p:spPr>
          <a:xfrm>
            <a:off x="13377240" y="9962640"/>
            <a:ext cx="53625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25"/>
              </a:lnSpc>
            </a:pPr>
            <a:r>
              <a:rPr b="1" lang="en-US" sz="2300" spc="-108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TRIBAL TECH INNOVATORS</a:t>
            </a:r>
            <a:endParaRPr b="0" lang="en-US" sz="23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6" name="Freeform 36"/>
          <p:cNvSpPr/>
          <p:nvPr/>
        </p:nvSpPr>
        <p:spPr>
          <a:xfrm>
            <a:off x="-1531440" y="-374760"/>
            <a:ext cx="5119560" cy="5346000"/>
          </a:xfrm>
          <a:custGeom>
            <a:avLst/>
            <a:gdLst>
              <a:gd name="textAreaLeft" fmla="*/ 0 w 5119560"/>
              <a:gd name="textAreaRight" fmla="*/ 5119920 w 5119560"/>
              <a:gd name="textAreaTop" fmla="*/ 0 h 5346000"/>
              <a:gd name="textAreaBottom" fmla="*/ 5346360 h 5346000"/>
            </a:gdLst>
            <a:ahLst/>
            <a:rect l="textAreaLeft" t="textAreaTop" r="textAreaRight" b="textAreaBottom"/>
            <a:pathLst>
              <a:path w="5120046" h="5346187">
                <a:moveTo>
                  <a:pt x="0" y="0"/>
                </a:moveTo>
                <a:lnTo>
                  <a:pt x="5120046" y="0"/>
                </a:lnTo>
                <a:lnTo>
                  <a:pt x="5120046" y="5346186"/>
                </a:lnTo>
                <a:lnTo>
                  <a:pt x="0" y="534618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  <a:alphaModFix amt="6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2"/>
          <p:cNvGrpSpPr/>
          <p:nvPr/>
        </p:nvGrpSpPr>
        <p:grpSpPr>
          <a:xfrm>
            <a:off x="1497960" y="-3301560"/>
            <a:ext cx="15318360" cy="8202600"/>
            <a:chOff x="1497960" y="-3301560"/>
            <a:chExt cx="15318360" cy="8202600"/>
          </a:xfrm>
        </p:grpSpPr>
        <p:sp>
          <p:nvSpPr>
            <p:cNvPr id="98" name="Freeform 3"/>
            <p:cNvSpPr/>
            <p:nvPr/>
          </p:nvSpPr>
          <p:spPr>
            <a:xfrm rot="16200000">
              <a:off x="5055840" y="-685908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99" name="TextBox 4"/>
            <p:cNvSpPr/>
            <p:nvPr/>
          </p:nvSpPr>
          <p:spPr>
            <a:xfrm rot="16200000">
              <a:off x="5752440" y="-549540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00" name="Group 5"/>
          <p:cNvGrpSpPr/>
          <p:nvPr/>
        </p:nvGrpSpPr>
        <p:grpSpPr>
          <a:xfrm>
            <a:off x="1471680" y="5385960"/>
            <a:ext cx="15318360" cy="8202600"/>
            <a:chOff x="1471680" y="5385960"/>
            <a:chExt cx="15318360" cy="8202600"/>
          </a:xfrm>
        </p:grpSpPr>
        <p:sp>
          <p:nvSpPr>
            <p:cNvPr id="101" name="Freeform 6"/>
            <p:cNvSpPr/>
            <p:nvPr/>
          </p:nvSpPr>
          <p:spPr>
            <a:xfrm rot="5400000">
              <a:off x="5029560" y="182772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102" name="TextBox 7"/>
            <p:cNvSpPr/>
            <p:nvPr/>
          </p:nvSpPr>
          <p:spPr>
            <a:xfrm rot="5400000">
              <a:off x="5870520" y="319176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03" name="Freeform 8"/>
          <p:cNvSpPr/>
          <p:nvPr/>
        </p:nvSpPr>
        <p:spPr>
          <a:xfrm>
            <a:off x="2905200" y="631440"/>
            <a:ext cx="12435480" cy="9812160"/>
          </a:xfrm>
          <a:custGeom>
            <a:avLst/>
            <a:gdLst>
              <a:gd name="textAreaLeft" fmla="*/ 0 w 12435480"/>
              <a:gd name="textAreaRight" fmla="*/ 12435840 w 12435480"/>
              <a:gd name="textAreaTop" fmla="*/ 0 h 9812160"/>
              <a:gd name="textAreaBottom" fmla="*/ 9812520 h 9812160"/>
            </a:gdLst>
            <a:ahLst/>
            <a:rect l="textAreaLeft" t="textAreaTop" r="textAreaRight" b="textAreaBottom"/>
            <a:pathLst>
              <a:path w="12435928" h="9812577">
                <a:moveTo>
                  <a:pt x="0" y="0"/>
                </a:moveTo>
                <a:lnTo>
                  <a:pt x="12435928" y="0"/>
                </a:lnTo>
                <a:lnTo>
                  <a:pt x="12435928" y="9812577"/>
                </a:lnTo>
                <a:lnTo>
                  <a:pt x="0" y="98125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18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928800" y="111960"/>
            <a:ext cx="16430040" cy="13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970"/>
              </a:lnSpc>
              <a:tabLst>
                <a:tab algn="l" pos="0"/>
              </a:tabLst>
            </a:pPr>
            <a:r>
              <a:rPr b="1" lang="en-US" sz="7830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DESIGNED FOR UNREACHABLE</a:t>
            </a:r>
            <a:endParaRPr b="0" lang="en-US" sz="78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513400" y="1471320"/>
            <a:ext cx="108964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543"/>
              </a:lnSpc>
            </a:pPr>
            <a:r>
              <a:rPr b="1" lang="en-US" sz="1810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ENGINEERING HEALTHCARE ACCESS AROUND THE REALITIES OF REMOTE COMMUNITIES</a:t>
            </a:r>
            <a:endParaRPr b="0" lang="en-US" sz="181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543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4151160" y="1212840"/>
            <a:ext cx="226008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54"/>
              </a:lnSpc>
              <a:tabLst>
                <a:tab algn="l" pos="0"/>
              </a:tabLst>
            </a:pPr>
            <a:r>
              <a:rPr b="1" lang="en-US" sz="4180" strike="noStrike" u="none">
                <a:solidFill>
                  <a:srgbClr val="545454"/>
                </a:solidFill>
                <a:uFillTx/>
                <a:latin typeface="Telegraf Bold"/>
                <a:ea typeface="Telegraf Bold"/>
              </a:rPr>
              <a:t>-</a:t>
            </a:r>
            <a:endParaRPr b="0" lang="en-US" sz="41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211680" y="2323440"/>
            <a:ext cx="506952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02"/>
              </a:lnSpc>
            </a:pPr>
            <a:r>
              <a:rPr b="1" lang="en-US" sz="293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🛞 </a:t>
            </a:r>
            <a:r>
              <a:rPr b="1" lang="en-US" sz="293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01 — ALL-TERRAIN MOBILITY-</a:t>
            </a:r>
            <a:endParaRPr b="0" lang="en-US" sz="29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3548520" y="3308760"/>
            <a:ext cx="55746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21"/>
              </a:lnSpc>
            </a:pPr>
            <a:r>
              <a:rPr b="0" lang="en-US" sz="2230" strike="noStrike" u="none">
                <a:solidFill>
                  <a:srgbClr val="ffffff"/>
                </a:solidFill>
                <a:uFillTx/>
                <a:latin typeface="Telegraf"/>
                <a:ea typeface="Telegraf"/>
              </a:rPr>
              <a:t>BUILT TO MOVE BEYOND PAVED ROADS</a:t>
            </a:r>
            <a:endParaRPr b="0" lang="en-US" sz="22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09" name="TextBox 14"/>
          <p:cNvSpPr/>
          <p:nvPr/>
        </p:nvSpPr>
        <p:spPr>
          <a:xfrm>
            <a:off x="12339720" y="2187000"/>
            <a:ext cx="5398200" cy="17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RUGGED WHEELS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UNEVEN-ROAD CAPABILITY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COMPACT TURNING RADIUS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OBSTACLE DETECTION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809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443520" y="4039920"/>
            <a:ext cx="506952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02"/>
              </a:lnSpc>
            </a:pPr>
            <a:r>
              <a:rPr b="1" lang="en-US" sz="293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☀️ </a:t>
            </a:r>
            <a:r>
              <a:rPr b="1" lang="en-US" sz="293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02 — INDEPENDENT POWER</a:t>
            </a:r>
            <a:endParaRPr b="0" lang="en-US" sz="29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2170080" y="5291640"/>
            <a:ext cx="848232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81680" indent="-240840" defTabSz="914400">
              <a:lnSpc>
                <a:spcPts val="3121"/>
              </a:lnSpc>
              <a:buFont typeface="Arial"/>
              <a:buChar char="•"/>
            </a:pPr>
            <a:r>
              <a:rPr b="0" lang="en-US" sz="2230" strike="noStrike" u="none">
                <a:solidFill>
                  <a:srgbClr val="ffffff"/>
                </a:solidFill>
                <a:uFillTx/>
                <a:latin typeface="Telegraf"/>
                <a:ea typeface="Telegraf"/>
              </a:rPr>
              <a:t>DESIGNED FOR AREAS WITH UNRELIABLE ELECTRICITY</a:t>
            </a:r>
            <a:endParaRPr b="0" lang="en-US" sz="22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12429360" y="3996720"/>
            <a:ext cx="5398200" cy="17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HIGH-CAPACITY BATTERY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SOLAR CHARGING OPTION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LOW-POWER ELECTRONICS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EXTENDED OPERATING TIME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809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3" name="TextBox 18"/>
          <p:cNvSpPr/>
          <p:nvPr/>
        </p:nvSpPr>
        <p:spPr>
          <a:xfrm>
            <a:off x="443520" y="6084720"/>
            <a:ext cx="506952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02"/>
              </a:lnSpc>
            </a:pPr>
            <a:r>
              <a:rPr b="1" lang="en-US" sz="293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📡 </a:t>
            </a:r>
            <a:r>
              <a:rPr b="1" lang="en-US" sz="293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03 — CONNECTIVITY + OFFLINE MODE</a:t>
            </a:r>
            <a:endParaRPr b="0" lang="en-US" sz="29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4" name="TextBox 19"/>
          <p:cNvSpPr/>
          <p:nvPr/>
        </p:nvSpPr>
        <p:spPr>
          <a:xfrm>
            <a:off x="2901240" y="7341120"/>
            <a:ext cx="82634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81680" indent="-240840" defTabSz="914400">
              <a:lnSpc>
                <a:spcPts val="3121"/>
              </a:lnSpc>
              <a:buFont typeface="Arial"/>
              <a:buChar char="•"/>
            </a:pPr>
            <a:r>
              <a:rPr b="0" lang="en-US" sz="2230" strike="noStrike" u="none">
                <a:solidFill>
                  <a:srgbClr val="ffffff"/>
                </a:solidFill>
                <a:uFillTx/>
                <a:latin typeface="Telegraf"/>
                <a:ea typeface="Telegraf"/>
              </a:rPr>
              <a:t>WORKS  EVEN WHEN CONNECTIVITY IS LIMITED</a:t>
            </a:r>
            <a:endParaRPr b="0" lang="en-US" sz="22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5" name="TextBox 20"/>
          <p:cNvSpPr/>
          <p:nvPr/>
        </p:nvSpPr>
        <p:spPr>
          <a:xfrm>
            <a:off x="12519360" y="5962680"/>
            <a:ext cx="5398200" cy="21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INTERNET WHEN AVAILABLE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LOCAL DATA STORAGE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AUTOMATIC SYNCHRONIZATION WHEN CONNECTED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433440" indent="-216720" algn="ctr" defTabSz="914400">
              <a:lnSpc>
                <a:spcPts val="2809"/>
              </a:lnSpc>
              <a:buFont typeface="Arial"/>
              <a:buChar char="•"/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REMOTE DOCTOR COMMUNICATION</a:t>
            </a:r>
            <a:endParaRPr b="0" lang="en-US" sz="20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809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6" name="TextBox 21"/>
          <p:cNvSpPr/>
          <p:nvPr/>
        </p:nvSpPr>
        <p:spPr>
          <a:xfrm>
            <a:off x="470880" y="8050320"/>
            <a:ext cx="506952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02"/>
              </a:lnSpc>
            </a:pPr>
            <a:r>
              <a:rPr b="1" lang="en-US" sz="293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🧑‍⚕️ </a:t>
            </a:r>
            <a:r>
              <a:rPr b="1" lang="en-US" sz="293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04 — HUMAN + ROBOT COLLABORATION</a:t>
            </a:r>
            <a:endParaRPr b="0" lang="en-US" sz="29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7" name="TextBox 22"/>
          <p:cNvSpPr/>
          <p:nvPr/>
        </p:nvSpPr>
        <p:spPr>
          <a:xfrm>
            <a:off x="2334240" y="9275760"/>
            <a:ext cx="88574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81680" indent="-240840" defTabSz="914400">
              <a:lnSpc>
                <a:spcPts val="3121"/>
              </a:lnSpc>
              <a:buFont typeface="Arial"/>
              <a:buChar char="•"/>
            </a:pPr>
            <a:r>
              <a:rPr b="0" lang="en-US" sz="2230" strike="noStrike" u="none">
                <a:solidFill>
                  <a:srgbClr val="ffffff"/>
                </a:solidFill>
                <a:uFillTx/>
                <a:latin typeface="Telegraf"/>
                <a:ea typeface="Telegraf"/>
              </a:rPr>
              <a:t>TECHNOLOGY SUPPORTS HEALTHCARE PROFESSIONALS</a:t>
            </a:r>
            <a:endParaRPr b="0" lang="en-US" sz="223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8" name="TextBox 23"/>
          <p:cNvSpPr/>
          <p:nvPr/>
        </p:nvSpPr>
        <p:spPr>
          <a:xfrm>
            <a:off x="12540600" y="7939440"/>
            <a:ext cx="5197320" cy="20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51360" indent="-175680" algn="ctr" defTabSz="914400">
              <a:lnSpc>
                <a:spcPts val="2276"/>
              </a:lnSpc>
              <a:buFont typeface="Arial"/>
              <a:buChar char="•"/>
            </a:pPr>
            <a:r>
              <a:rPr b="1" lang="en-US" sz="16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ROBO DOCTOR</a:t>
            </a:r>
            <a:endParaRPr b="0" lang="en-US" sz="16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51360" indent="-175680" algn="ctr" defTabSz="914400">
              <a:lnSpc>
                <a:spcPts val="2276"/>
              </a:lnSpc>
              <a:buFont typeface="Arial"/>
              <a:buChar char="•"/>
            </a:pPr>
            <a:r>
              <a:rPr b="1" lang="en-US" sz="16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 ↓</a:t>
            </a:r>
            <a:endParaRPr b="0" lang="en-US" sz="16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51360" indent="-175680" algn="ctr" defTabSz="914400">
              <a:lnSpc>
                <a:spcPts val="2276"/>
              </a:lnSpc>
              <a:buFont typeface="Arial"/>
              <a:buChar char="•"/>
            </a:pPr>
            <a:r>
              <a:rPr b="1" lang="en-US" sz="16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SCREENING &amp; DATA</a:t>
            </a:r>
            <a:endParaRPr b="0" lang="en-US" sz="16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51360" indent="-175680" algn="ctr" defTabSz="914400">
              <a:lnSpc>
                <a:spcPts val="2276"/>
              </a:lnSpc>
              <a:buFont typeface="Arial"/>
              <a:buChar char="•"/>
            </a:pPr>
            <a:r>
              <a:rPr b="1" lang="en-US" sz="16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 ↓</a:t>
            </a:r>
            <a:endParaRPr b="0" lang="en-US" sz="16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51360" indent="-175680" algn="ctr" defTabSz="914400">
              <a:lnSpc>
                <a:spcPts val="2276"/>
              </a:lnSpc>
              <a:buFont typeface="Arial"/>
              <a:buChar char="•"/>
            </a:pPr>
            <a:r>
              <a:rPr b="1" lang="en-US" sz="16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HEALTHCARE WORKER / DOCTOR</a:t>
            </a:r>
            <a:endParaRPr b="0" lang="en-US" sz="16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51360" indent="-175680" algn="ctr" defTabSz="914400">
              <a:lnSpc>
                <a:spcPts val="2276"/>
              </a:lnSpc>
              <a:buFont typeface="Arial"/>
              <a:buChar char="•"/>
            </a:pPr>
            <a:r>
              <a:rPr b="1" lang="en-US" sz="16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 ↓</a:t>
            </a:r>
            <a:endParaRPr b="0" lang="en-US" sz="16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276"/>
              </a:lnSpc>
            </a:pPr>
            <a:r>
              <a:rPr b="1" lang="en-US" sz="16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PATIENT</a:t>
            </a:r>
            <a:endParaRPr b="0" lang="en-US" sz="162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2"/>
          <p:cNvGrpSpPr/>
          <p:nvPr/>
        </p:nvGrpSpPr>
        <p:grpSpPr>
          <a:xfrm>
            <a:off x="997560" y="-3114000"/>
            <a:ext cx="15318360" cy="8202600"/>
            <a:chOff x="997560" y="-3114000"/>
            <a:chExt cx="15318360" cy="8202600"/>
          </a:xfrm>
        </p:grpSpPr>
        <p:sp>
          <p:nvSpPr>
            <p:cNvPr id="120" name="Freeform 3"/>
            <p:cNvSpPr/>
            <p:nvPr/>
          </p:nvSpPr>
          <p:spPr>
            <a:xfrm rot="16200000">
              <a:off x="4555440" y="-667152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121" name="TextBox 4"/>
            <p:cNvSpPr/>
            <p:nvPr/>
          </p:nvSpPr>
          <p:spPr>
            <a:xfrm rot="16200000">
              <a:off x="5252040" y="-530784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22" name="Group 5"/>
          <p:cNvGrpSpPr/>
          <p:nvPr/>
        </p:nvGrpSpPr>
        <p:grpSpPr>
          <a:xfrm>
            <a:off x="1498320" y="5267160"/>
            <a:ext cx="15318360" cy="8202600"/>
            <a:chOff x="1498320" y="5267160"/>
            <a:chExt cx="15318360" cy="8202600"/>
          </a:xfrm>
        </p:grpSpPr>
        <p:sp>
          <p:nvSpPr>
            <p:cNvPr id="123" name="Freeform 6"/>
            <p:cNvSpPr/>
            <p:nvPr/>
          </p:nvSpPr>
          <p:spPr>
            <a:xfrm rot="5400000">
              <a:off x="5056200" y="170892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124" name="TextBox 7"/>
            <p:cNvSpPr/>
            <p:nvPr/>
          </p:nvSpPr>
          <p:spPr>
            <a:xfrm rot="5400000">
              <a:off x="5897160" y="307332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25" name="Freeform 8"/>
          <p:cNvSpPr/>
          <p:nvPr/>
        </p:nvSpPr>
        <p:spPr>
          <a:xfrm>
            <a:off x="-2363760" y="-203400"/>
            <a:ext cx="7049880" cy="5852160"/>
          </a:xfrm>
          <a:custGeom>
            <a:avLst/>
            <a:gdLst>
              <a:gd name="textAreaLeft" fmla="*/ 0 w 7049880"/>
              <a:gd name="textAreaRight" fmla="*/ 7050240 w 7049880"/>
              <a:gd name="textAreaTop" fmla="*/ 0 h 5852160"/>
              <a:gd name="textAreaBottom" fmla="*/ 5852520 h 5852160"/>
            </a:gdLst>
            <a:ahLst/>
            <a:rect l="textAreaLeft" t="textAreaTop" r="textAreaRight" b="textAreaBottom"/>
            <a:pathLst>
              <a:path w="7050159" h="5852648">
                <a:moveTo>
                  <a:pt x="0" y="0"/>
                </a:moveTo>
                <a:lnTo>
                  <a:pt x="7050159" y="0"/>
                </a:lnTo>
                <a:lnTo>
                  <a:pt x="7050159" y="5852649"/>
                </a:lnTo>
                <a:lnTo>
                  <a:pt x="0" y="58526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6" name="Freeform 9"/>
          <p:cNvSpPr/>
          <p:nvPr/>
        </p:nvSpPr>
        <p:spPr>
          <a:xfrm>
            <a:off x="3589560" y="906120"/>
            <a:ext cx="10945800" cy="8759880"/>
          </a:xfrm>
          <a:custGeom>
            <a:avLst/>
            <a:gdLst>
              <a:gd name="textAreaLeft" fmla="*/ 0 w 10945800"/>
              <a:gd name="textAreaRight" fmla="*/ 10946160 w 10945800"/>
              <a:gd name="textAreaTop" fmla="*/ 0 h 8759880"/>
              <a:gd name="textAreaBottom" fmla="*/ 8760240 h 8759880"/>
            </a:gdLst>
            <a:ahLst/>
            <a:rect l="textAreaLeft" t="textAreaTop" r="textAreaRight" b="textAreaBottom"/>
            <a:pathLst>
              <a:path w="10946207" h="8760088">
                <a:moveTo>
                  <a:pt x="0" y="0"/>
                </a:moveTo>
                <a:lnTo>
                  <a:pt x="10946207" y="0"/>
                </a:lnTo>
                <a:lnTo>
                  <a:pt x="10946207" y="8760088"/>
                </a:lnTo>
                <a:lnTo>
                  <a:pt x="0" y="87600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36000"/>
            </a:blip>
            <a:srcRect/>
            <a:stretch>
              <a:fillRect l="-1" t="-2" r="-1" b="-2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418680" y="627480"/>
            <a:ext cx="17450280" cy="8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381"/>
              </a:lnSpc>
            </a:pPr>
            <a:r>
              <a:rPr b="1" lang="en-US" sz="7169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TECHNOLOGY INSIDE ROBO DOCTOR</a:t>
            </a:r>
            <a:endParaRPr b="0" lang="en-US" sz="7169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8" name="TextBox 11"/>
          <p:cNvSpPr/>
          <p:nvPr/>
        </p:nvSpPr>
        <p:spPr>
          <a:xfrm>
            <a:off x="2559960" y="1605240"/>
            <a:ext cx="1557144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34"/>
              </a:lnSpc>
            </a:pPr>
            <a:r>
              <a:rPr b="1" lang="en-US" sz="2060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-AN INTEGRATED SYSTEM COMBINING ROBOTICS, AI, DIAGNOSTICS, CONNECTIVITY AND RENEWABLE POWER</a:t>
            </a:r>
            <a:endParaRPr b="0" lang="en-US" sz="206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defTabSz="914400">
              <a:lnSpc>
                <a:spcPts val="1834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29" name="Group 12"/>
          <p:cNvGrpSpPr/>
          <p:nvPr/>
        </p:nvGrpSpPr>
        <p:grpSpPr>
          <a:xfrm>
            <a:off x="540000" y="2450160"/>
            <a:ext cx="5927760" cy="2828880"/>
            <a:chOff x="540000" y="2450160"/>
            <a:chExt cx="5927760" cy="2828880"/>
          </a:xfrm>
        </p:grpSpPr>
        <p:sp>
          <p:nvSpPr>
            <p:cNvPr id="130" name="Freeform 13"/>
            <p:cNvSpPr/>
            <p:nvPr/>
          </p:nvSpPr>
          <p:spPr>
            <a:xfrm>
              <a:off x="540000" y="2542680"/>
              <a:ext cx="5927760" cy="2736000"/>
            </a:xfrm>
            <a:custGeom>
              <a:avLst/>
              <a:gdLst>
                <a:gd name="textAreaLeft" fmla="*/ 0 w 5927760"/>
                <a:gd name="textAreaRight" fmla="*/ 5928120 w 5927760"/>
                <a:gd name="textAreaTop" fmla="*/ 0 h 2736000"/>
                <a:gd name="textAreaBottom" fmla="*/ 2736360 h 2736000"/>
              </a:gdLst>
              <a:ahLst/>
              <a:rect l="textAreaLeft" t="textAreaTop" r="textAreaRight" b="textAreaBottom"/>
              <a:pathLst>
                <a:path w="2437130" h="1125220">
                  <a:moveTo>
                    <a:pt x="2437130" y="130597"/>
                  </a:moveTo>
                  <a:lnTo>
                    <a:pt x="2437130" y="994623"/>
                  </a:lnTo>
                  <a:cubicBezTo>
                    <a:pt x="2437130" y="1066750"/>
                    <a:pt x="2378660" y="1125220"/>
                    <a:pt x="2306533" y="1125220"/>
                  </a:cubicBezTo>
                  <a:lnTo>
                    <a:pt x="130597" y="1125220"/>
                  </a:lnTo>
                  <a:cubicBezTo>
                    <a:pt x="58470" y="1125220"/>
                    <a:pt x="0" y="1066750"/>
                    <a:pt x="0" y="994623"/>
                  </a:cubicBezTo>
                  <a:lnTo>
                    <a:pt x="0" y="130597"/>
                  </a:lnTo>
                  <a:cubicBezTo>
                    <a:pt x="0" y="58470"/>
                    <a:pt x="58470" y="0"/>
                    <a:pt x="130597" y="0"/>
                  </a:cubicBezTo>
                  <a:lnTo>
                    <a:pt x="2306533" y="0"/>
                  </a:lnTo>
                  <a:cubicBezTo>
                    <a:pt x="2378660" y="0"/>
                    <a:pt x="2437130" y="58470"/>
                    <a:pt x="2437130" y="130597"/>
                  </a:cubicBezTo>
                  <a:close/>
                </a:path>
              </a:pathLst>
            </a:custGeom>
            <a:noFill/>
            <a:ln cap="rnd" w="19050">
              <a:solidFill>
                <a:srgbClr val="ffffff">
                  <a:alpha val="6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31" name="TextBox 14"/>
            <p:cNvSpPr/>
            <p:nvPr/>
          </p:nvSpPr>
          <p:spPr>
            <a:xfrm>
              <a:off x="540000" y="2450160"/>
              <a:ext cx="5927760" cy="282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2" name="TextBox 15"/>
          <p:cNvSpPr/>
          <p:nvPr/>
        </p:nvSpPr>
        <p:spPr>
          <a:xfrm>
            <a:off x="691560" y="2711880"/>
            <a:ext cx="524088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92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🧠 </a:t>
            </a:r>
            <a:r>
              <a:rPr b="1" lang="en-US" sz="30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01 — AI + COMPUTING</a:t>
            </a:r>
            <a:endParaRPr b="0" lang="en-US" sz="30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3" name="TextBox 16"/>
          <p:cNvSpPr/>
          <p:nvPr/>
        </p:nvSpPr>
        <p:spPr>
          <a:xfrm>
            <a:off x="1497960" y="3430440"/>
            <a:ext cx="409140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EDGE AI PROCESSOR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SENSOR-DATA PROCESSING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ABNORMAL-INDICATOR DETECTION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VOICE INTERACTION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LOCAL DECISION-SUPPORT SOFTWARE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29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34" name="Group 17"/>
          <p:cNvGrpSpPr/>
          <p:nvPr/>
        </p:nvGrpSpPr>
        <p:grpSpPr>
          <a:xfrm>
            <a:off x="12266280" y="2479320"/>
            <a:ext cx="5865120" cy="2828880"/>
            <a:chOff x="12266280" y="2479320"/>
            <a:chExt cx="5865120" cy="2828880"/>
          </a:xfrm>
        </p:grpSpPr>
        <p:sp>
          <p:nvSpPr>
            <p:cNvPr id="135" name="Freeform 18"/>
            <p:cNvSpPr/>
            <p:nvPr/>
          </p:nvSpPr>
          <p:spPr>
            <a:xfrm>
              <a:off x="12266280" y="2571840"/>
              <a:ext cx="5865120" cy="2736000"/>
            </a:xfrm>
            <a:custGeom>
              <a:avLst/>
              <a:gdLst>
                <a:gd name="textAreaLeft" fmla="*/ 0 w 5865120"/>
                <a:gd name="textAreaRight" fmla="*/ 5865480 w 5865120"/>
                <a:gd name="textAreaTop" fmla="*/ 0 h 2736000"/>
                <a:gd name="textAreaBottom" fmla="*/ 2736360 h 2736000"/>
              </a:gdLst>
              <a:ahLst/>
              <a:rect l="textAreaLeft" t="textAreaTop" r="textAreaRight" b="textAreaBottom"/>
              <a:pathLst>
                <a:path w="2411421" h="1125220">
                  <a:moveTo>
                    <a:pt x="2411421" y="131990"/>
                  </a:moveTo>
                  <a:lnTo>
                    <a:pt x="2411421" y="993230"/>
                  </a:lnTo>
                  <a:cubicBezTo>
                    <a:pt x="2411421" y="1066126"/>
                    <a:pt x="2352327" y="1125220"/>
                    <a:pt x="2279431" y="1125220"/>
                  </a:cubicBezTo>
                  <a:lnTo>
                    <a:pt x="131990" y="1125220"/>
                  </a:lnTo>
                  <a:cubicBezTo>
                    <a:pt x="96984" y="1125220"/>
                    <a:pt x="63412" y="1111314"/>
                    <a:pt x="38659" y="1086561"/>
                  </a:cubicBezTo>
                  <a:cubicBezTo>
                    <a:pt x="13906" y="1061808"/>
                    <a:pt x="0" y="1028236"/>
                    <a:pt x="0" y="993230"/>
                  </a:cubicBezTo>
                  <a:lnTo>
                    <a:pt x="0" y="131990"/>
                  </a:lnTo>
                  <a:cubicBezTo>
                    <a:pt x="0" y="96984"/>
                    <a:pt x="13906" y="63412"/>
                    <a:pt x="38659" y="38659"/>
                  </a:cubicBezTo>
                  <a:cubicBezTo>
                    <a:pt x="63412" y="13906"/>
                    <a:pt x="96984" y="0"/>
                    <a:pt x="131990" y="0"/>
                  </a:cubicBezTo>
                  <a:lnTo>
                    <a:pt x="2279431" y="0"/>
                  </a:lnTo>
                  <a:cubicBezTo>
                    <a:pt x="2314437" y="0"/>
                    <a:pt x="2348009" y="13906"/>
                    <a:pt x="2372762" y="38659"/>
                  </a:cubicBezTo>
                  <a:cubicBezTo>
                    <a:pt x="2397515" y="63412"/>
                    <a:pt x="2411421" y="96984"/>
                    <a:pt x="2411421" y="131990"/>
                  </a:cubicBezTo>
                  <a:close/>
                </a:path>
              </a:pathLst>
            </a:custGeom>
            <a:noFill/>
            <a:ln cap="rnd" w="19050">
              <a:solidFill>
                <a:srgbClr val="ffffff">
                  <a:alpha val="6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36" name="TextBox 19"/>
            <p:cNvSpPr/>
            <p:nvPr/>
          </p:nvSpPr>
          <p:spPr>
            <a:xfrm>
              <a:off x="12266280" y="2479320"/>
              <a:ext cx="5865120" cy="282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7" name="TextBox 20"/>
          <p:cNvSpPr/>
          <p:nvPr/>
        </p:nvSpPr>
        <p:spPr>
          <a:xfrm>
            <a:off x="17078760" y="5136840"/>
            <a:ext cx="5384520" cy="9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713"/>
              </a:lnSpc>
            </a:pPr>
            <a:r>
              <a:rPr b="1" lang="en-US" sz="551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2047</a:t>
            </a:r>
            <a:endParaRPr b="0" lang="en-US" sz="551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8" name="TextBox 21"/>
          <p:cNvSpPr/>
          <p:nvPr/>
        </p:nvSpPr>
        <p:spPr>
          <a:xfrm>
            <a:off x="11243160" y="2812320"/>
            <a:ext cx="79113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99"/>
              </a:lnSpc>
            </a:pPr>
            <a:r>
              <a:rPr b="1" lang="en-US" sz="21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📡 </a:t>
            </a:r>
            <a:r>
              <a:rPr b="1" lang="en-US" sz="21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03 — CONNECTIVITY</a:t>
            </a:r>
            <a:endParaRPr b="0" lang="en-US" sz="21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39" name="Group 22"/>
          <p:cNvGrpSpPr/>
          <p:nvPr/>
        </p:nvGrpSpPr>
        <p:grpSpPr>
          <a:xfrm>
            <a:off x="691560" y="5975640"/>
            <a:ext cx="5927760" cy="2692440"/>
            <a:chOff x="691560" y="5975640"/>
            <a:chExt cx="5927760" cy="2692440"/>
          </a:xfrm>
        </p:grpSpPr>
        <p:sp>
          <p:nvSpPr>
            <p:cNvPr id="140" name="Freeform 23"/>
            <p:cNvSpPr/>
            <p:nvPr/>
          </p:nvSpPr>
          <p:spPr>
            <a:xfrm>
              <a:off x="691560" y="6068160"/>
              <a:ext cx="5927760" cy="2599560"/>
            </a:xfrm>
            <a:custGeom>
              <a:avLst/>
              <a:gdLst>
                <a:gd name="textAreaLeft" fmla="*/ 0 w 5927760"/>
                <a:gd name="textAreaRight" fmla="*/ 5928120 w 5927760"/>
                <a:gd name="textAreaTop" fmla="*/ 0 h 2599560"/>
                <a:gd name="textAreaBottom" fmla="*/ 2599920 h 2599560"/>
              </a:gdLst>
              <a:ahLst/>
              <a:rect l="textAreaLeft" t="textAreaTop" r="textAreaRight" b="textAreaBottom"/>
              <a:pathLst>
                <a:path w="2437130" h="1069156">
                  <a:moveTo>
                    <a:pt x="2437130" y="130597"/>
                  </a:moveTo>
                  <a:lnTo>
                    <a:pt x="2437130" y="938559"/>
                  </a:lnTo>
                  <a:cubicBezTo>
                    <a:pt x="2437130" y="1010685"/>
                    <a:pt x="2378660" y="1069156"/>
                    <a:pt x="2306533" y="1069156"/>
                  </a:cubicBezTo>
                  <a:lnTo>
                    <a:pt x="130597" y="1069156"/>
                  </a:lnTo>
                  <a:cubicBezTo>
                    <a:pt x="58470" y="1069156"/>
                    <a:pt x="0" y="1010685"/>
                    <a:pt x="0" y="938559"/>
                  </a:cubicBezTo>
                  <a:lnTo>
                    <a:pt x="0" y="130597"/>
                  </a:lnTo>
                  <a:cubicBezTo>
                    <a:pt x="0" y="58470"/>
                    <a:pt x="58470" y="0"/>
                    <a:pt x="130597" y="0"/>
                  </a:cubicBezTo>
                  <a:lnTo>
                    <a:pt x="2306533" y="0"/>
                  </a:lnTo>
                  <a:cubicBezTo>
                    <a:pt x="2378660" y="0"/>
                    <a:pt x="2437130" y="58470"/>
                    <a:pt x="2437130" y="130597"/>
                  </a:cubicBezTo>
                  <a:close/>
                </a:path>
              </a:pathLst>
            </a:custGeom>
            <a:noFill/>
            <a:ln cap="rnd" w="19050">
              <a:solidFill>
                <a:srgbClr val="ffffff">
                  <a:alpha val="6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41" name="TextBox 24"/>
            <p:cNvSpPr/>
            <p:nvPr/>
          </p:nvSpPr>
          <p:spPr>
            <a:xfrm>
              <a:off x="691560" y="5975640"/>
              <a:ext cx="5927760" cy="269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42" name="TextBox 25"/>
          <p:cNvSpPr/>
          <p:nvPr/>
        </p:nvSpPr>
        <p:spPr>
          <a:xfrm>
            <a:off x="1028880" y="6318000"/>
            <a:ext cx="55562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33"/>
              </a:lnSpc>
            </a:pPr>
            <a:r>
              <a:rPr b="1" lang="en-US" sz="187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🩺 </a:t>
            </a:r>
            <a:r>
              <a:rPr b="1" lang="en-US" sz="187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02 — MEDICAL &amp; DIAGNOSTIC SYSTEM</a:t>
            </a:r>
            <a:endParaRPr b="0" lang="en-US" sz="1879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3" name="TextBox 26"/>
          <p:cNvSpPr/>
          <p:nvPr/>
        </p:nvSpPr>
        <p:spPr>
          <a:xfrm>
            <a:off x="13268880" y="3623760"/>
            <a:ext cx="3859560" cy="18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277200" indent="-138600" algn="ctr" defTabSz="914400">
              <a:lnSpc>
                <a:spcPts val="1797"/>
              </a:lnSpc>
              <a:buFont typeface="Arial"/>
              <a:buChar char="•"/>
            </a:pPr>
            <a:r>
              <a:rPr b="1" lang="en-US" sz="12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4G/5G CONNECTIVITY</a:t>
            </a:r>
            <a:endParaRPr b="0" lang="en-US" sz="12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277200" indent="-138600" algn="ctr" defTabSz="914400">
              <a:lnSpc>
                <a:spcPts val="1797"/>
              </a:lnSpc>
              <a:buFont typeface="Arial"/>
              <a:buChar char="•"/>
            </a:pPr>
            <a:r>
              <a:rPr b="1" lang="en-US" sz="12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WI-FI</a:t>
            </a:r>
            <a:endParaRPr b="0" lang="en-US" sz="12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277200" indent="-138600" algn="ctr" defTabSz="914400">
              <a:lnSpc>
                <a:spcPts val="1797"/>
              </a:lnSpc>
              <a:buFont typeface="Arial"/>
              <a:buChar char="•"/>
            </a:pPr>
            <a:r>
              <a:rPr b="1" lang="en-US" sz="12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GPS</a:t>
            </a:r>
            <a:endParaRPr b="0" lang="en-US" sz="12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277200" indent="-138600" algn="ctr" defTabSz="914400">
              <a:lnSpc>
                <a:spcPts val="1797"/>
              </a:lnSpc>
              <a:buFont typeface="Arial"/>
              <a:buChar char="•"/>
            </a:pPr>
            <a:r>
              <a:rPr b="1" lang="en-US" sz="12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HD CAMERA</a:t>
            </a:r>
            <a:endParaRPr b="0" lang="en-US" sz="12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277200" indent="-138600" algn="ctr" defTabSz="914400">
              <a:lnSpc>
                <a:spcPts val="1797"/>
              </a:lnSpc>
              <a:buFont typeface="Arial"/>
              <a:buChar char="•"/>
            </a:pPr>
            <a:r>
              <a:rPr b="1" lang="en-US" sz="12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MICROPHONE + SPEAKER</a:t>
            </a:r>
            <a:endParaRPr b="0" lang="en-US" sz="12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277200" indent="-138600" algn="ctr" defTabSz="914400">
              <a:lnSpc>
                <a:spcPts val="1797"/>
              </a:lnSpc>
              <a:buFont typeface="Arial"/>
              <a:buChar char="•"/>
            </a:pPr>
            <a:r>
              <a:rPr b="1" lang="en-US" sz="12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DOCTOR VIDEO CONSULTATION</a:t>
            </a:r>
            <a:endParaRPr b="0" lang="en-US" sz="12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1797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1797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4" name="TextBox 27"/>
          <p:cNvSpPr/>
          <p:nvPr/>
        </p:nvSpPr>
        <p:spPr>
          <a:xfrm>
            <a:off x="1490040" y="6968880"/>
            <a:ext cx="4027680" cy="18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VITAL-SIGN SENSORS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BLOOD-PRESSURE MONITORING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OXYGEN SATURATION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TEMPERATURE MEASUREMENT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SELECTED BLOOD-BASED TESTING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DIAGNOSTIC MODULE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095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45" name="Group 28"/>
          <p:cNvGrpSpPr/>
          <p:nvPr/>
        </p:nvGrpSpPr>
        <p:grpSpPr>
          <a:xfrm>
            <a:off x="12126600" y="5824800"/>
            <a:ext cx="5927760" cy="2828880"/>
            <a:chOff x="12126600" y="5824800"/>
            <a:chExt cx="5927760" cy="2828880"/>
          </a:xfrm>
        </p:grpSpPr>
        <p:sp>
          <p:nvSpPr>
            <p:cNvPr id="146" name="Freeform 29"/>
            <p:cNvSpPr/>
            <p:nvPr/>
          </p:nvSpPr>
          <p:spPr>
            <a:xfrm>
              <a:off x="12126600" y="5917680"/>
              <a:ext cx="5927760" cy="2736000"/>
            </a:xfrm>
            <a:custGeom>
              <a:avLst/>
              <a:gdLst>
                <a:gd name="textAreaLeft" fmla="*/ 0 w 5927760"/>
                <a:gd name="textAreaRight" fmla="*/ 5928120 w 5927760"/>
                <a:gd name="textAreaTop" fmla="*/ 0 h 2736000"/>
                <a:gd name="textAreaBottom" fmla="*/ 2736360 h 2736000"/>
              </a:gdLst>
              <a:ahLst/>
              <a:rect l="textAreaLeft" t="textAreaTop" r="textAreaRight" b="textAreaBottom"/>
              <a:pathLst>
                <a:path w="2437130" h="1125220">
                  <a:moveTo>
                    <a:pt x="2437130" y="130597"/>
                  </a:moveTo>
                  <a:lnTo>
                    <a:pt x="2437130" y="994623"/>
                  </a:lnTo>
                  <a:cubicBezTo>
                    <a:pt x="2437130" y="1066750"/>
                    <a:pt x="2378660" y="1125220"/>
                    <a:pt x="2306533" y="1125220"/>
                  </a:cubicBezTo>
                  <a:lnTo>
                    <a:pt x="130597" y="1125220"/>
                  </a:lnTo>
                  <a:cubicBezTo>
                    <a:pt x="58470" y="1125220"/>
                    <a:pt x="0" y="1066750"/>
                    <a:pt x="0" y="994623"/>
                  </a:cubicBezTo>
                  <a:lnTo>
                    <a:pt x="0" y="130597"/>
                  </a:lnTo>
                  <a:cubicBezTo>
                    <a:pt x="0" y="58470"/>
                    <a:pt x="58470" y="0"/>
                    <a:pt x="130597" y="0"/>
                  </a:cubicBezTo>
                  <a:lnTo>
                    <a:pt x="2306533" y="0"/>
                  </a:lnTo>
                  <a:cubicBezTo>
                    <a:pt x="2378660" y="0"/>
                    <a:pt x="2437130" y="58470"/>
                    <a:pt x="2437130" y="130597"/>
                  </a:cubicBezTo>
                  <a:close/>
                </a:path>
              </a:pathLst>
            </a:custGeom>
            <a:noFill/>
            <a:ln cap="rnd" w="19050">
              <a:solidFill>
                <a:srgbClr val="ffffff">
                  <a:alpha val="6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47" name="TextBox 30"/>
            <p:cNvSpPr/>
            <p:nvPr/>
          </p:nvSpPr>
          <p:spPr>
            <a:xfrm>
              <a:off x="12126600" y="5824800"/>
              <a:ext cx="5927760" cy="282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48" name="TextBox 31"/>
          <p:cNvSpPr/>
          <p:nvPr/>
        </p:nvSpPr>
        <p:spPr>
          <a:xfrm>
            <a:off x="10968840" y="6095520"/>
            <a:ext cx="79113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99"/>
              </a:lnSpc>
            </a:pPr>
            <a:r>
              <a:rPr b="1" lang="en-US" sz="21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🔋 </a:t>
            </a:r>
            <a:r>
              <a:rPr b="1" lang="en-US" sz="21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04 — POWER SYSTEM</a:t>
            </a:r>
            <a:endParaRPr b="0" lang="en-US" sz="21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9" name="TextBox 32"/>
          <p:cNvSpPr/>
          <p:nvPr/>
        </p:nvSpPr>
        <p:spPr>
          <a:xfrm>
            <a:off x="13130640" y="6708600"/>
            <a:ext cx="4091400" cy="16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RECHARGEABLE BATTERY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BATTERY-MANAGEMENT SYSTEM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SOLAR CHARGING OPTION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POWER-EFFICIENT ELECTRONICS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8320" indent="-164160" algn="ctr" defTabSz="914400">
              <a:lnSpc>
                <a:spcPts val="2129"/>
              </a:lnSpc>
              <a:buFont typeface="Arial"/>
              <a:buChar char="•"/>
            </a:pPr>
            <a:r>
              <a:rPr b="1" lang="en-US" sz="15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LONG OPERATING DURATION</a:t>
            </a:r>
            <a:endParaRPr b="0" lang="en-US" sz="152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29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50" name="Group 33"/>
          <p:cNvGrpSpPr/>
          <p:nvPr/>
        </p:nvGrpSpPr>
        <p:grpSpPr>
          <a:xfrm>
            <a:off x="6468120" y="7275600"/>
            <a:ext cx="5797800" cy="2692440"/>
            <a:chOff x="6468120" y="7275600"/>
            <a:chExt cx="5797800" cy="2692440"/>
          </a:xfrm>
        </p:grpSpPr>
        <p:sp>
          <p:nvSpPr>
            <p:cNvPr id="151" name="Freeform 34"/>
            <p:cNvSpPr/>
            <p:nvPr/>
          </p:nvSpPr>
          <p:spPr>
            <a:xfrm>
              <a:off x="6468120" y="7368480"/>
              <a:ext cx="5797800" cy="2599560"/>
            </a:xfrm>
            <a:custGeom>
              <a:avLst/>
              <a:gdLst>
                <a:gd name="textAreaLeft" fmla="*/ 0 w 5797800"/>
                <a:gd name="textAreaRight" fmla="*/ 5798160 w 5797800"/>
                <a:gd name="textAreaTop" fmla="*/ 0 h 2599560"/>
                <a:gd name="textAreaBottom" fmla="*/ 2599920 h 2599560"/>
              </a:gdLst>
              <a:ahLst/>
              <a:rect l="textAreaLeft" t="textAreaTop" r="textAreaRight" b="textAreaBottom"/>
              <a:pathLst>
                <a:path w="2383682" h="1069156">
                  <a:moveTo>
                    <a:pt x="2383682" y="133525"/>
                  </a:moveTo>
                  <a:lnTo>
                    <a:pt x="2383682" y="935630"/>
                  </a:lnTo>
                  <a:cubicBezTo>
                    <a:pt x="2383682" y="971043"/>
                    <a:pt x="2369615" y="1005006"/>
                    <a:pt x="2344574" y="1030047"/>
                  </a:cubicBezTo>
                  <a:cubicBezTo>
                    <a:pt x="2319533" y="1055088"/>
                    <a:pt x="2285570" y="1069156"/>
                    <a:pt x="2250157" y="1069156"/>
                  </a:cubicBezTo>
                  <a:lnTo>
                    <a:pt x="133525" y="1069156"/>
                  </a:lnTo>
                  <a:cubicBezTo>
                    <a:pt x="98112" y="1069156"/>
                    <a:pt x="64150" y="1055088"/>
                    <a:pt x="39109" y="1030047"/>
                  </a:cubicBezTo>
                  <a:cubicBezTo>
                    <a:pt x="14068" y="1005006"/>
                    <a:pt x="0" y="971043"/>
                    <a:pt x="0" y="935630"/>
                  </a:cubicBezTo>
                  <a:lnTo>
                    <a:pt x="0" y="133525"/>
                  </a:lnTo>
                  <a:cubicBezTo>
                    <a:pt x="0" y="98112"/>
                    <a:pt x="14068" y="64150"/>
                    <a:pt x="39109" y="39109"/>
                  </a:cubicBezTo>
                  <a:cubicBezTo>
                    <a:pt x="64150" y="14068"/>
                    <a:pt x="98112" y="0"/>
                    <a:pt x="133525" y="0"/>
                  </a:cubicBezTo>
                  <a:lnTo>
                    <a:pt x="2250157" y="0"/>
                  </a:lnTo>
                  <a:cubicBezTo>
                    <a:pt x="2285570" y="0"/>
                    <a:pt x="2319533" y="14068"/>
                    <a:pt x="2344574" y="39109"/>
                  </a:cubicBezTo>
                  <a:cubicBezTo>
                    <a:pt x="2369615" y="64150"/>
                    <a:pt x="2383682" y="98112"/>
                    <a:pt x="2383682" y="133525"/>
                  </a:cubicBezTo>
                  <a:close/>
                </a:path>
              </a:pathLst>
            </a:custGeom>
            <a:noFill/>
            <a:ln cap="rnd" w="19050">
              <a:solidFill>
                <a:srgbClr val="ffffff">
                  <a:alpha val="6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52" name="TextBox 35"/>
            <p:cNvSpPr/>
            <p:nvPr/>
          </p:nvSpPr>
          <p:spPr>
            <a:xfrm>
              <a:off x="6468120" y="7275600"/>
              <a:ext cx="5797800" cy="269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53" name="TextBox 36"/>
          <p:cNvSpPr/>
          <p:nvPr/>
        </p:nvSpPr>
        <p:spPr>
          <a:xfrm>
            <a:off x="7143120" y="8119080"/>
            <a:ext cx="4340520" cy="18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HIGH-TORQUE MOTORS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RUGGED WHEELS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MOTOR CONTROLLERS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OBSTACLE DETECTION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GPS-ASSISTED NAVIGATION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lvl="1" marL="323280" indent="-161640" algn="ctr" defTabSz="914400">
              <a:lnSpc>
                <a:spcPts val="2095"/>
              </a:lnSpc>
              <a:buFont typeface="Arial"/>
              <a:buChar char="•"/>
            </a:pPr>
            <a:r>
              <a:rPr b="1" lang="en-US" sz="149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EMERGENCY STOP SYSTEM</a:t>
            </a:r>
            <a:endParaRPr b="0" lang="en-US" sz="1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095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54" name="TextBox 37"/>
          <p:cNvSpPr/>
          <p:nvPr/>
        </p:nvSpPr>
        <p:spPr>
          <a:xfrm>
            <a:off x="6895440" y="7597800"/>
            <a:ext cx="50947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15"/>
              </a:lnSpc>
            </a:pPr>
            <a:r>
              <a:rPr b="1" lang="en-US" sz="172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🛞 </a:t>
            </a:r>
            <a:r>
              <a:rPr b="1" lang="en-US" sz="172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05 — ROBOTICS &amp; MOBILITYY</a:t>
            </a:r>
            <a:endParaRPr b="0" lang="en-US" sz="1729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2"/>
          <p:cNvGrpSpPr/>
          <p:nvPr/>
        </p:nvGrpSpPr>
        <p:grpSpPr>
          <a:xfrm>
            <a:off x="1497960" y="-3301560"/>
            <a:ext cx="15318360" cy="8202600"/>
            <a:chOff x="1497960" y="-3301560"/>
            <a:chExt cx="15318360" cy="8202600"/>
          </a:xfrm>
        </p:grpSpPr>
        <p:sp>
          <p:nvSpPr>
            <p:cNvPr id="156" name="Freeform 3"/>
            <p:cNvSpPr/>
            <p:nvPr/>
          </p:nvSpPr>
          <p:spPr>
            <a:xfrm rot="16200000">
              <a:off x="5055840" y="-685908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157" name="TextBox 4"/>
            <p:cNvSpPr/>
            <p:nvPr/>
          </p:nvSpPr>
          <p:spPr>
            <a:xfrm rot="16200000">
              <a:off x="5752440" y="-549540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58" name="Group 5"/>
          <p:cNvGrpSpPr/>
          <p:nvPr/>
        </p:nvGrpSpPr>
        <p:grpSpPr>
          <a:xfrm>
            <a:off x="1471680" y="5385960"/>
            <a:ext cx="15318360" cy="8202600"/>
            <a:chOff x="1471680" y="5385960"/>
            <a:chExt cx="15318360" cy="8202600"/>
          </a:xfrm>
        </p:grpSpPr>
        <p:sp>
          <p:nvSpPr>
            <p:cNvPr id="159" name="Freeform 6"/>
            <p:cNvSpPr/>
            <p:nvPr/>
          </p:nvSpPr>
          <p:spPr>
            <a:xfrm rot="5400000">
              <a:off x="5029560" y="182772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160" name="TextBox 7"/>
            <p:cNvSpPr/>
            <p:nvPr/>
          </p:nvSpPr>
          <p:spPr>
            <a:xfrm rot="5400000">
              <a:off x="5870520" y="319176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61" name="Freeform 8"/>
          <p:cNvSpPr/>
          <p:nvPr/>
        </p:nvSpPr>
        <p:spPr>
          <a:xfrm>
            <a:off x="17767080" y="8556480"/>
            <a:ext cx="3404880" cy="4753800"/>
          </a:xfrm>
          <a:custGeom>
            <a:avLst/>
            <a:gdLst>
              <a:gd name="textAreaLeft" fmla="*/ 0 w 3404880"/>
              <a:gd name="textAreaRight" fmla="*/ 3405240 w 3404880"/>
              <a:gd name="textAreaTop" fmla="*/ 0 h 4753800"/>
              <a:gd name="textAreaBottom" fmla="*/ 4754160 h 4753800"/>
            </a:gdLst>
            <a:ahLst/>
            <a:rect l="textAreaLeft" t="textAreaTop" r="textAreaRight" b="textAreaBottom"/>
            <a:pathLst>
              <a:path w="3405078" h="4754259">
                <a:moveTo>
                  <a:pt x="0" y="0"/>
                </a:moveTo>
                <a:lnTo>
                  <a:pt x="3405077" y="0"/>
                </a:lnTo>
                <a:lnTo>
                  <a:pt x="3405077" y="4754260"/>
                </a:lnTo>
                <a:lnTo>
                  <a:pt x="0" y="47542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5" t="-3" r="-5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2" name="Freeform 9"/>
          <p:cNvSpPr/>
          <p:nvPr/>
        </p:nvSpPr>
        <p:spPr>
          <a:xfrm>
            <a:off x="1699200" y="475560"/>
            <a:ext cx="12577680" cy="10260720"/>
          </a:xfrm>
          <a:custGeom>
            <a:avLst/>
            <a:gdLst>
              <a:gd name="textAreaLeft" fmla="*/ 0 w 12577680"/>
              <a:gd name="textAreaRight" fmla="*/ 12578040 w 12577680"/>
              <a:gd name="textAreaTop" fmla="*/ 0 h 10260720"/>
              <a:gd name="textAreaBottom" fmla="*/ 10261080 h 10260720"/>
            </a:gdLst>
            <a:ahLst/>
            <a:rect l="textAreaLeft" t="textAreaTop" r="textAreaRight" b="textAreaBottom"/>
            <a:pathLst>
              <a:path w="12577866" h="10260959">
                <a:moveTo>
                  <a:pt x="0" y="0"/>
                </a:moveTo>
                <a:lnTo>
                  <a:pt x="12577867" y="0"/>
                </a:lnTo>
                <a:lnTo>
                  <a:pt x="12577867" y="10260959"/>
                </a:lnTo>
                <a:lnTo>
                  <a:pt x="0" y="102609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36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grpSp>
        <p:nvGrpSpPr>
          <p:cNvPr id="163" name="Group 10"/>
          <p:cNvGrpSpPr/>
          <p:nvPr/>
        </p:nvGrpSpPr>
        <p:grpSpPr>
          <a:xfrm>
            <a:off x="93240" y="1822320"/>
            <a:ext cx="4930560" cy="1782000"/>
            <a:chOff x="93240" y="1822320"/>
            <a:chExt cx="4930560" cy="1782000"/>
          </a:xfrm>
        </p:grpSpPr>
        <p:sp>
          <p:nvSpPr>
            <p:cNvPr id="164" name="Freeform 11"/>
            <p:cNvSpPr/>
            <p:nvPr/>
          </p:nvSpPr>
          <p:spPr>
            <a:xfrm>
              <a:off x="93240" y="1967040"/>
              <a:ext cx="4930560" cy="16372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637280"/>
                <a:gd name="textAreaBottom" fmla="*/ 1637640 h 1637280"/>
              </a:gdLst>
              <a:ahLst/>
              <a:rect l="textAreaLeft" t="textAreaTop" r="textAreaRight" b="textAreaBottom"/>
              <a:pathLst>
                <a:path w="1298671" h="431284">
                  <a:moveTo>
                    <a:pt x="1095471" y="0"/>
                  </a:moveTo>
                  <a:lnTo>
                    <a:pt x="203200" y="0"/>
                  </a:lnTo>
                  <a:lnTo>
                    <a:pt x="0" y="215642"/>
                  </a:lnTo>
                  <a:lnTo>
                    <a:pt x="203200" y="431284"/>
                  </a:lnTo>
                  <a:lnTo>
                    <a:pt x="1095471" y="431284"/>
                  </a:lnTo>
                  <a:lnTo>
                    <a:pt x="1298671" y="215642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65" name="TextBox 12"/>
            <p:cNvSpPr/>
            <p:nvPr/>
          </p:nvSpPr>
          <p:spPr>
            <a:xfrm>
              <a:off x="671760" y="1822320"/>
              <a:ext cx="3773160" cy="178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66" name="TextBox 13"/>
          <p:cNvSpPr/>
          <p:nvPr/>
        </p:nvSpPr>
        <p:spPr>
          <a:xfrm>
            <a:off x="380520" y="263880"/>
            <a:ext cx="1360944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81"/>
              </a:lnSpc>
            </a:pPr>
            <a:r>
              <a:rPr b="1" lang="en-US" sz="6270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PROTOTYPE COST ESTIMATION</a:t>
            </a:r>
            <a:endParaRPr b="0" lang="en-US" sz="62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67" name="TextBox 14"/>
          <p:cNvSpPr/>
          <p:nvPr/>
        </p:nvSpPr>
        <p:spPr>
          <a:xfrm>
            <a:off x="920520" y="990000"/>
            <a:ext cx="1736712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48"/>
              </a:lnSpc>
            </a:pPr>
            <a:r>
              <a:rPr b="1" lang="en-US" sz="2860" strike="noStrike" u="none">
                <a:solidFill>
                  <a:srgbClr val="737373"/>
                </a:solidFill>
                <a:uFillTx/>
                <a:latin typeface="Telegraf Bold"/>
                <a:ea typeface="Telegraf Bold"/>
              </a:rPr>
              <a:t>-ESTIMATED INVESTMENT FOR DEVELOPING ONE FUNCTIONAL ROBO DOCTOR PROTOTYPE</a:t>
            </a:r>
            <a:endParaRPr b="0" lang="en-US" sz="286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68" name="TextBox 15"/>
          <p:cNvSpPr/>
          <p:nvPr/>
        </p:nvSpPr>
        <p:spPr>
          <a:xfrm>
            <a:off x="503280" y="2111400"/>
            <a:ext cx="42829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ROBOTIC CHASSIS &amp; BODY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69" name="TextBox 16"/>
          <p:cNvSpPr/>
          <p:nvPr/>
        </p:nvSpPr>
        <p:spPr>
          <a:xfrm>
            <a:off x="179280" y="2694960"/>
            <a:ext cx="46407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058"/>
              </a:lnSpc>
            </a:pP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35,000</a:t>
            </a:r>
            <a:endParaRPr b="0" lang="en-US" sz="50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70" name="Group 17"/>
          <p:cNvGrpSpPr/>
          <p:nvPr/>
        </p:nvGrpSpPr>
        <p:grpSpPr>
          <a:xfrm>
            <a:off x="93240" y="3793320"/>
            <a:ext cx="4785480" cy="1949400"/>
            <a:chOff x="93240" y="3793320"/>
            <a:chExt cx="4785480" cy="1949400"/>
          </a:xfrm>
        </p:grpSpPr>
        <p:sp>
          <p:nvSpPr>
            <p:cNvPr id="171" name="Freeform 18"/>
            <p:cNvSpPr/>
            <p:nvPr/>
          </p:nvSpPr>
          <p:spPr>
            <a:xfrm>
              <a:off x="93240" y="3938040"/>
              <a:ext cx="4785480" cy="1804680"/>
            </a:xfrm>
            <a:custGeom>
              <a:avLst/>
              <a:gdLst>
                <a:gd name="textAreaLeft" fmla="*/ 0 w 4785480"/>
                <a:gd name="textAreaRight" fmla="*/ 4785840 w 4785480"/>
                <a:gd name="textAreaTop" fmla="*/ 0 h 1804680"/>
                <a:gd name="textAreaBottom" fmla="*/ 1805040 h 1804680"/>
              </a:gdLst>
              <a:ahLst/>
              <a:rect l="textAreaLeft" t="textAreaTop" r="textAreaRight" b="textAreaBottom"/>
              <a:pathLst>
                <a:path w="1260500" h="475439">
                  <a:moveTo>
                    <a:pt x="1057300" y="0"/>
                  </a:moveTo>
                  <a:lnTo>
                    <a:pt x="203200" y="0"/>
                  </a:lnTo>
                  <a:lnTo>
                    <a:pt x="0" y="237719"/>
                  </a:lnTo>
                  <a:lnTo>
                    <a:pt x="203200" y="475439"/>
                  </a:lnTo>
                  <a:lnTo>
                    <a:pt x="1057300" y="475439"/>
                  </a:lnTo>
                  <a:lnTo>
                    <a:pt x="1260500" y="237719"/>
                  </a:lnTo>
                  <a:lnTo>
                    <a:pt x="1057300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72" name="TextBox 19"/>
            <p:cNvSpPr/>
            <p:nvPr/>
          </p:nvSpPr>
          <p:spPr>
            <a:xfrm>
              <a:off x="671760" y="3793320"/>
              <a:ext cx="3628440" cy="194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73" name="TextBox 20"/>
          <p:cNvSpPr/>
          <p:nvPr/>
        </p:nvSpPr>
        <p:spPr>
          <a:xfrm>
            <a:off x="483480" y="4090320"/>
            <a:ext cx="403272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MOTORS, WHEELS &amp; CONTROLLERS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74" name="TextBox 21"/>
          <p:cNvSpPr/>
          <p:nvPr/>
        </p:nvSpPr>
        <p:spPr>
          <a:xfrm>
            <a:off x="501840" y="4801680"/>
            <a:ext cx="4014360" cy="8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56"/>
              </a:lnSpc>
            </a:pP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30,000</a:t>
            </a:r>
            <a:endParaRPr b="0" lang="en-US" sz="47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75" name="Group 22"/>
          <p:cNvGrpSpPr/>
          <p:nvPr/>
        </p:nvGrpSpPr>
        <p:grpSpPr>
          <a:xfrm>
            <a:off x="179280" y="5931720"/>
            <a:ext cx="4930560" cy="1927800"/>
            <a:chOff x="179280" y="5931720"/>
            <a:chExt cx="4930560" cy="1927800"/>
          </a:xfrm>
        </p:grpSpPr>
        <p:sp>
          <p:nvSpPr>
            <p:cNvPr id="176" name="Freeform 23"/>
            <p:cNvSpPr/>
            <p:nvPr/>
          </p:nvSpPr>
          <p:spPr>
            <a:xfrm>
              <a:off x="179280" y="607644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77" name="TextBox 24"/>
            <p:cNvSpPr/>
            <p:nvPr/>
          </p:nvSpPr>
          <p:spPr>
            <a:xfrm>
              <a:off x="758160" y="593172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78" name="TextBox 25"/>
          <p:cNvSpPr/>
          <p:nvPr/>
        </p:nvSpPr>
        <p:spPr>
          <a:xfrm>
            <a:off x="324360" y="6811200"/>
            <a:ext cx="46407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058"/>
              </a:lnSpc>
            </a:pP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20,000</a:t>
            </a:r>
            <a:endParaRPr b="0" lang="en-US" sz="50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79" name="TextBox 26"/>
          <p:cNvSpPr/>
          <p:nvPr/>
        </p:nvSpPr>
        <p:spPr>
          <a:xfrm>
            <a:off x="628200" y="6228720"/>
            <a:ext cx="40327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DISPLAY, CAMERA &amp; AUDIO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80" name="Group 27"/>
          <p:cNvGrpSpPr/>
          <p:nvPr/>
        </p:nvGrpSpPr>
        <p:grpSpPr>
          <a:xfrm>
            <a:off x="175680" y="8022960"/>
            <a:ext cx="4930560" cy="1927800"/>
            <a:chOff x="175680" y="8022960"/>
            <a:chExt cx="4930560" cy="1927800"/>
          </a:xfrm>
        </p:grpSpPr>
        <p:sp>
          <p:nvSpPr>
            <p:cNvPr id="181" name="Freeform 28"/>
            <p:cNvSpPr/>
            <p:nvPr/>
          </p:nvSpPr>
          <p:spPr>
            <a:xfrm>
              <a:off x="175680" y="816732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82" name="TextBox 29"/>
            <p:cNvSpPr/>
            <p:nvPr/>
          </p:nvSpPr>
          <p:spPr>
            <a:xfrm>
              <a:off x="754200" y="802296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83" name="TextBox 30"/>
          <p:cNvSpPr/>
          <p:nvPr/>
        </p:nvSpPr>
        <p:spPr>
          <a:xfrm>
            <a:off x="405360" y="8361000"/>
            <a:ext cx="42829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AI / EDGE COMPUTING SYSTEM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84" name="TextBox 31"/>
          <p:cNvSpPr/>
          <p:nvPr/>
        </p:nvSpPr>
        <p:spPr>
          <a:xfrm>
            <a:off x="511200" y="8983080"/>
            <a:ext cx="4014360" cy="8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56"/>
              </a:lnSpc>
            </a:pP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35,000</a:t>
            </a:r>
            <a:endParaRPr b="0" lang="en-US" sz="47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185" name="Group 32"/>
          <p:cNvGrpSpPr/>
          <p:nvPr/>
        </p:nvGrpSpPr>
        <p:grpSpPr>
          <a:xfrm>
            <a:off x="5886000" y="2016720"/>
            <a:ext cx="4930560" cy="1927800"/>
            <a:chOff x="5886000" y="2016720"/>
            <a:chExt cx="4930560" cy="1927800"/>
          </a:xfrm>
        </p:grpSpPr>
        <p:sp>
          <p:nvSpPr>
            <p:cNvPr id="186" name="Freeform 33"/>
            <p:cNvSpPr/>
            <p:nvPr/>
          </p:nvSpPr>
          <p:spPr>
            <a:xfrm>
              <a:off x="5886000" y="216144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87" name="TextBox 34"/>
            <p:cNvSpPr/>
            <p:nvPr/>
          </p:nvSpPr>
          <p:spPr>
            <a:xfrm>
              <a:off x="6464520" y="201672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88" name="Group 35"/>
          <p:cNvGrpSpPr/>
          <p:nvPr/>
        </p:nvGrpSpPr>
        <p:grpSpPr>
          <a:xfrm>
            <a:off x="5971680" y="4058280"/>
            <a:ext cx="4930560" cy="1927800"/>
            <a:chOff x="5971680" y="4058280"/>
            <a:chExt cx="4930560" cy="1927800"/>
          </a:xfrm>
        </p:grpSpPr>
        <p:sp>
          <p:nvSpPr>
            <p:cNvPr id="189" name="Freeform 36"/>
            <p:cNvSpPr/>
            <p:nvPr/>
          </p:nvSpPr>
          <p:spPr>
            <a:xfrm>
              <a:off x="5971680" y="420300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90" name="TextBox 37"/>
            <p:cNvSpPr/>
            <p:nvPr/>
          </p:nvSpPr>
          <p:spPr>
            <a:xfrm>
              <a:off x="6550200" y="405828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91" name="Group 38"/>
          <p:cNvGrpSpPr/>
          <p:nvPr/>
        </p:nvGrpSpPr>
        <p:grpSpPr>
          <a:xfrm>
            <a:off x="5971680" y="6005880"/>
            <a:ext cx="4930560" cy="1927800"/>
            <a:chOff x="5971680" y="6005880"/>
            <a:chExt cx="4930560" cy="1927800"/>
          </a:xfrm>
        </p:grpSpPr>
        <p:sp>
          <p:nvSpPr>
            <p:cNvPr id="192" name="Freeform 39"/>
            <p:cNvSpPr/>
            <p:nvPr/>
          </p:nvSpPr>
          <p:spPr>
            <a:xfrm>
              <a:off x="5971680" y="615060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93" name="TextBox 40"/>
            <p:cNvSpPr/>
            <p:nvPr/>
          </p:nvSpPr>
          <p:spPr>
            <a:xfrm>
              <a:off x="6550200" y="600588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94" name="Group 41"/>
          <p:cNvGrpSpPr/>
          <p:nvPr/>
        </p:nvGrpSpPr>
        <p:grpSpPr>
          <a:xfrm>
            <a:off x="5971680" y="8112600"/>
            <a:ext cx="4930560" cy="1927800"/>
            <a:chOff x="5971680" y="8112600"/>
            <a:chExt cx="4930560" cy="1927800"/>
          </a:xfrm>
        </p:grpSpPr>
        <p:sp>
          <p:nvSpPr>
            <p:cNvPr id="195" name="Freeform 42"/>
            <p:cNvSpPr/>
            <p:nvPr/>
          </p:nvSpPr>
          <p:spPr>
            <a:xfrm>
              <a:off x="5971680" y="825732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196" name="TextBox 43"/>
            <p:cNvSpPr/>
            <p:nvPr/>
          </p:nvSpPr>
          <p:spPr>
            <a:xfrm>
              <a:off x="6550200" y="811260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97" name="TextBox 44"/>
          <p:cNvSpPr/>
          <p:nvPr/>
        </p:nvSpPr>
        <p:spPr>
          <a:xfrm>
            <a:off x="6370560" y="2085120"/>
            <a:ext cx="403272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HEALTH MONITORING SENSORS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8" name="TextBox 45"/>
          <p:cNvSpPr/>
          <p:nvPr/>
        </p:nvSpPr>
        <p:spPr>
          <a:xfrm>
            <a:off x="6592680" y="4364640"/>
            <a:ext cx="403272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DIAGNOSTIC / BLOOD-TESTING MODULE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9" name="TextBox 46"/>
          <p:cNvSpPr/>
          <p:nvPr/>
        </p:nvSpPr>
        <p:spPr>
          <a:xfrm>
            <a:off x="6420600" y="6350760"/>
            <a:ext cx="403272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CONNECTIVITY &amp; COMMUNICATION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0" name="TextBox 47"/>
          <p:cNvSpPr/>
          <p:nvPr/>
        </p:nvSpPr>
        <p:spPr>
          <a:xfrm>
            <a:off x="6379920" y="8457120"/>
            <a:ext cx="403272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BATTERY &amp; POWER MANAGEMENT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1" name="TextBox 48"/>
          <p:cNvSpPr/>
          <p:nvPr/>
        </p:nvSpPr>
        <p:spPr>
          <a:xfrm>
            <a:off x="6388920" y="9189000"/>
            <a:ext cx="4014360" cy="8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56"/>
              </a:lnSpc>
            </a:pP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25,000</a:t>
            </a:r>
            <a:endParaRPr b="0" lang="en-US" sz="47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2" name="TextBox 49"/>
          <p:cNvSpPr/>
          <p:nvPr/>
        </p:nvSpPr>
        <p:spPr>
          <a:xfrm>
            <a:off x="6420600" y="7063200"/>
            <a:ext cx="4014360" cy="8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56"/>
              </a:lnSpc>
            </a:pP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15,000</a:t>
            </a:r>
            <a:endParaRPr b="0" lang="en-US" sz="47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3" name="TextBox 50"/>
          <p:cNvSpPr/>
          <p:nvPr/>
        </p:nvSpPr>
        <p:spPr>
          <a:xfrm>
            <a:off x="6429600" y="5061960"/>
            <a:ext cx="4014360" cy="8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56"/>
              </a:lnSpc>
            </a:pP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60,000</a:t>
            </a:r>
            <a:endParaRPr b="0" lang="en-US" sz="47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4" name="TextBox 51"/>
          <p:cNvSpPr/>
          <p:nvPr/>
        </p:nvSpPr>
        <p:spPr>
          <a:xfrm>
            <a:off x="6030720" y="2969640"/>
            <a:ext cx="46407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058"/>
              </a:lnSpc>
            </a:pP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30,000</a:t>
            </a:r>
            <a:endParaRPr b="0" lang="en-US" sz="50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205" name="Group 52"/>
          <p:cNvGrpSpPr/>
          <p:nvPr/>
        </p:nvGrpSpPr>
        <p:grpSpPr>
          <a:xfrm>
            <a:off x="11678760" y="1985040"/>
            <a:ext cx="4930560" cy="1927800"/>
            <a:chOff x="11678760" y="1985040"/>
            <a:chExt cx="4930560" cy="1927800"/>
          </a:xfrm>
        </p:grpSpPr>
        <p:sp>
          <p:nvSpPr>
            <p:cNvPr id="206" name="Freeform 53"/>
            <p:cNvSpPr/>
            <p:nvPr/>
          </p:nvSpPr>
          <p:spPr>
            <a:xfrm>
              <a:off x="11678760" y="212976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07" name="TextBox 54"/>
            <p:cNvSpPr/>
            <p:nvPr/>
          </p:nvSpPr>
          <p:spPr>
            <a:xfrm>
              <a:off x="12257280" y="198504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08" name="Group 55"/>
          <p:cNvGrpSpPr/>
          <p:nvPr/>
        </p:nvGrpSpPr>
        <p:grpSpPr>
          <a:xfrm>
            <a:off x="11682360" y="3999960"/>
            <a:ext cx="4930560" cy="1927800"/>
            <a:chOff x="11682360" y="3999960"/>
            <a:chExt cx="4930560" cy="1927800"/>
          </a:xfrm>
        </p:grpSpPr>
        <p:sp>
          <p:nvSpPr>
            <p:cNvPr id="209" name="Freeform 56"/>
            <p:cNvSpPr/>
            <p:nvPr/>
          </p:nvSpPr>
          <p:spPr>
            <a:xfrm>
              <a:off x="11682360" y="414468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10" name="TextBox 57"/>
            <p:cNvSpPr/>
            <p:nvPr/>
          </p:nvSpPr>
          <p:spPr>
            <a:xfrm>
              <a:off x="12261240" y="399996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11" name="Group 58"/>
          <p:cNvGrpSpPr/>
          <p:nvPr/>
        </p:nvGrpSpPr>
        <p:grpSpPr>
          <a:xfrm>
            <a:off x="11686320" y="6014880"/>
            <a:ext cx="4930560" cy="1927800"/>
            <a:chOff x="11686320" y="6014880"/>
            <a:chExt cx="4930560" cy="1927800"/>
          </a:xfrm>
        </p:grpSpPr>
        <p:sp>
          <p:nvSpPr>
            <p:cNvPr id="212" name="Freeform 59"/>
            <p:cNvSpPr/>
            <p:nvPr/>
          </p:nvSpPr>
          <p:spPr>
            <a:xfrm>
              <a:off x="11686320" y="615960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13" name="TextBox 60"/>
            <p:cNvSpPr/>
            <p:nvPr/>
          </p:nvSpPr>
          <p:spPr>
            <a:xfrm>
              <a:off x="12264840" y="601488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14" name="Group 61"/>
          <p:cNvGrpSpPr/>
          <p:nvPr/>
        </p:nvGrpSpPr>
        <p:grpSpPr>
          <a:xfrm>
            <a:off x="11686320" y="8222040"/>
            <a:ext cx="4930560" cy="1927800"/>
            <a:chOff x="11686320" y="8222040"/>
            <a:chExt cx="4930560" cy="1927800"/>
          </a:xfrm>
        </p:grpSpPr>
        <p:sp>
          <p:nvSpPr>
            <p:cNvPr id="215" name="Freeform 62"/>
            <p:cNvSpPr/>
            <p:nvPr/>
          </p:nvSpPr>
          <p:spPr>
            <a:xfrm>
              <a:off x="11686320" y="8366400"/>
              <a:ext cx="4930560" cy="1783080"/>
            </a:xfrm>
            <a:custGeom>
              <a:avLst/>
              <a:gdLst>
                <a:gd name="textAreaLeft" fmla="*/ 0 w 4930560"/>
                <a:gd name="textAreaRight" fmla="*/ 4930920 w 4930560"/>
                <a:gd name="textAreaTop" fmla="*/ 0 h 1783080"/>
                <a:gd name="textAreaBottom" fmla="*/ 1783440 h 1783080"/>
              </a:gdLst>
              <a:ahLst/>
              <a:rect l="textAreaLeft" t="textAreaTop" r="textAreaRight" b="textAreaBottom"/>
              <a:pathLst>
                <a:path w="1298671" h="469719">
                  <a:moveTo>
                    <a:pt x="1095471" y="0"/>
                  </a:moveTo>
                  <a:lnTo>
                    <a:pt x="203200" y="0"/>
                  </a:lnTo>
                  <a:lnTo>
                    <a:pt x="0" y="234860"/>
                  </a:lnTo>
                  <a:lnTo>
                    <a:pt x="203200" y="469719"/>
                  </a:lnTo>
                  <a:lnTo>
                    <a:pt x="1095471" y="469719"/>
                  </a:lnTo>
                  <a:lnTo>
                    <a:pt x="1298671" y="234860"/>
                  </a:lnTo>
                  <a:lnTo>
                    <a:pt x="1095471" y="0"/>
                  </a:lnTo>
                  <a:close/>
                </a:path>
              </a:pathLst>
            </a:custGeom>
            <a:solidFill>
              <a:srgbClr val="737373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16" name="TextBox 63"/>
            <p:cNvSpPr/>
            <p:nvPr/>
          </p:nvSpPr>
          <p:spPr>
            <a:xfrm>
              <a:off x="12264840" y="8222040"/>
              <a:ext cx="3773160" cy="19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17" name="TextBox 64"/>
          <p:cNvSpPr/>
          <p:nvPr/>
        </p:nvSpPr>
        <p:spPr>
          <a:xfrm>
            <a:off x="11873880" y="2840400"/>
            <a:ext cx="46407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058"/>
              </a:lnSpc>
            </a:pP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20,000</a:t>
            </a:r>
            <a:endParaRPr b="0" lang="en-US" sz="50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8" name="TextBox 65"/>
          <p:cNvSpPr/>
          <p:nvPr/>
        </p:nvSpPr>
        <p:spPr>
          <a:xfrm>
            <a:off x="11823480" y="4951800"/>
            <a:ext cx="464076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058"/>
              </a:lnSpc>
            </a:pP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504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15,000</a:t>
            </a:r>
            <a:endParaRPr b="0" lang="en-US" sz="50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9" name="TextBox 66"/>
          <p:cNvSpPr/>
          <p:nvPr/>
        </p:nvSpPr>
        <p:spPr>
          <a:xfrm>
            <a:off x="11912400" y="6994080"/>
            <a:ext cx="4014360" cy="8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56"/>
              </a:lnSpc>
            </a:pP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35,000</a:t>
            </a:r>
            <a:endParaRPr b="0" lang="en-US" sz="47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0" name="TextBox 67"/>
          <p:cNvSpPr/>
          <p:nvPr/>
        </p:nvSpPr>
        <p:spPr>
          <a:xfrm>
            <a:off x="11950560" y="9216360"/>
            <a:ext cx="4014360" cy="8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56"/>
              </a:lnSpc>
            </a:pP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₹</a:t>
            </a:r>
            <a:r>
              <a:rPr b="1" lang="en-US" sz="47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40,000</a:t>
            </a:r>
            <a:endParaRPr b="0" lang="en-US" sz="47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1" name="TextBox 68"/>
          <p:cNvSpPr/>
          <p:nvPr/>
        </p:nvSpPr>
        <p:spPr>
          <a:xfrm>
            <a:off x="12177720" y="2223360"/>
            <a:ext cx="40327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OPTIONAL SOLAR CHARGING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2" name="TextBox 69"/>
          <p:cNvSpPr/>
          <p:nvPr/>
        </p:nvSpPr>
        <p:spPr>
          <a:xfrm>
            <a:off x="12135240" y="4407480"/>
            <a:ext cx="40327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GPS &amp; OBSTACLE DETECTION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3" name="TextBox 70"/>
          <p:cNvSpPr/>
          <p:nvPr/>
        </p:nvSpPr>
        <p:spPr>
          <a:xfrm>
            <a:off x="12092400" y="6329160"/>
            <a:ext cx="40327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6"/>
              </a:lnSpc>
            </a:pPr>
            <a:r>
              <a:rPr b="1" lang="en-US" sz="20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SOFTWARE / AI / DASHBOARD</a:t>
            </a:r>
            <a:endParaRPr b="0" lang="en-US" sz="20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4" name="TextBox 71"/>
          <p:cNvSpPr/>
          <p:nvPr/>
        </p:nvSpPr>
        <p:spPr>
          <a:xfrm>
            <a:off x="12506040" y="8428680"/>
            <a:ext cx="3291120" cy="12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370"/>
              </a:lnSpc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SAFETY &amp; PROTECTIVE ENCLOSURE / MISC. PROTOTYPING</a:t>
            </a:r>
            <a:endParaRPr b="0" lang="en-US" sz="17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37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5" name="TextBox 72"/>
          <p:cNvSpPr/>
          <p:nvPr/>
        </p:nvSpPr>
        <p:spPr>
          <a:xfrm>
            <a:off x="93240" y="7646400"/>
            <a:ext cx="1822500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35"/>
              </a:lnSpc>
            </a:pPr>
            <a:r>
              <a:rPr b="1" lang="en-US" sz="2280" strike="noStrike" u="none">
                <a:solidFill>
                  <a:srgbClr val="737373">
                    <a:alpha val="22000"/>
                  </a:srgbClr>
                </a:solidFill>
                <a:uFillTx/>
                <a:latin typeface="Telegraf Bold"/>
                <a:ea typeface="Telegraf Bold"/>
              </a:rPr>
              <a:t>NOTE: THIS IS A PRELIMINARY PROTOTYPE ESTIMATE. FINAL COST WILL DEPEND ON MEDICAL-GRADE COMPONENTS, DIAGNOSTIC EQUIPMENT, CERTIFICATION, SOFTWARE ARCHITECTURE, MANUFACTURING SCALE AND PROCUREMENT SPECIFICATIONS.</a:t>
            </a:r>
            <a:endParaRPr b="0" lang="en-US" sz="228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defTabSz="914400">
              <a:lnSpc>
                <a:spcPts val="2035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2"/>
          <p:cNvGrpSpPr/>
          <p:nvPr/>
        </p:nvGrpSpPr>
        <p:grpSpPr>
          <a:xfrm>
            <a:off x="4089960" y="-1981440"/>
            <a:ext cx="15318360" cy="8202600"/>
            <a:chOff x="4089960" y="-1981440"/>
            <a:chExt cx="15318360" cy="8202600"/>
          </a:xfrm>
        </p:grpSpPr>
        <p:sp>
          <p:nvSpPr>
            <p:cNvPr id="227" name="Freeform 3"/>
            <p:cNvSpPr/>
            <p:nvPr/>
          </p:nvSpPr>
          <p:spPr>
            <a:xfrm rot="16200000">
              <a:off x="7647840" y="-553896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228" name="TextBox 4"/>
            <p:cNvSpPr/>
            <p:nvPr/>
          </p:nvSpPr>
          <p:spPr>
            <a:xfrm rot="16200000">
              <a:off x="8344080" y="-417528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29" name="Group 5"/>
          <p:cNvGrpSpPr/>
          <p:nvPr/>
        </p:nvGrpSpPr>
        <p:grpSpPr>
          <a:xfrm>
            <a:off x="-2360880" y="3728880"/>
            <a:ext cx="15318360" cy="8202600"/>
            <a:chOff x="-2360880" y="3728880"/>
            <a:chExt cx="15318360" cy="8202600"/>
          </a:xfrm>
        </p:grpSpPr>
        <p:sp>
          <p:nvSpPr>
            <p:cNvPr id="230" name="Freeform 6"/>
            <p:cNvSpPr/>
            <p:nvPr/>
          </p:nvSpPr>
          <p:spPr>
            <a:xfrm rot="5400000">
              <a:off x="1197000" y="17064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231" name="TextBox 7"/>
            <p:cNvSpPr/>
            <p:nvPr/>
          </p:nvSpPr>
          <p:spPr>
            <a:xfrm rot="5400000">
              <a:off x="2037960" y="153468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32" name="TextBox 8"/>
          <p:cNvSpPr/>
          <p:nvPr/>
        </p:nvSpPr>
        <p:spPr>
          <a:xfrm>
            <a:off x="2218680" y="753480"/>
            <a:ext cx="1355868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63"/>
              </a:lnSpc>
            </a:pPr>
            <a:r>
              <a:rPr b="1" lang="en-US" sz="4790" strike="noStrike" u="none">
                <a:solidFill>
                  <a:srgbClr val="a6a6a6"/>
                </a:solidFill>
                <a:uFillTx/>
                <a:latin typeface="Telegraf Bold"/>
                <a:ea typeface="Telegraf Bold"/>
              </a:rPr>
              <a:t>IMPACT ON TRIBAL COMMUNITIES</a:t>
            </a:r>
            <a:endParaRPr b="0" lang="en-US" sz="479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3" name="Freeform 9"/>
          <p:cNvSpPr/>
          <p:nvPr/>
        </p:nvSpPr>
        <p:spPr>
          <a:xfrm flipH="1">
            <a:off x="-2305080" y="-1636560"/>
            <a:ext cx="4608720" cy="4621680"/>
          </a:xfrm>
          <a:custGeom>
            <a:avLst/>
            <a:gdLst>
              <a:gd name="textAreaLeft" fmla="*/ -360 w 4608720"/>
              <a:gd name="textAreaRight" fmla="*/ 4608720 w 4608720"/>
              <a:gd name="textAreaTop" fmla="*/ 0 h 4621680"/>
              <a:gd name="textAreaBottom" fmla="*/ 4622040 h 4621680"/>
            </a:gdLst>
            <a:ahLst/>
            <a:rect l="textAreaLeft" t="textAreaTop" r="textAreaRight" b="textAreaBottom"/>
            <a:pathLst>
              <a:path w="4609049" h="4622180">
                <a:moveTo>
                  <a:pt x="4609049" y="0"/>
                </a:moveTo>
                <a:lnTo>
                  <a:pt x="0" y="0"/>
                </a:lnTo>
                <a:lnTo>
                  <a:pt x="0" y="4622180"/>
                </a:lnTo>
                <a:lnTo>
                  <a:pt x="4609049" y="4622180"/>
                </a:lnTo>
                <a:lnTo>
                  <a:pt x="4609049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3" t="-3" r="-3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4" name="Freeform 10"/>
          <p:cNvSpPr/>
          <p:nvPr/>
        </p:nvSpPr>
        <p:spPr>
          <a:xfrm flipH="1">
            <a:off x="16052760" y="6734520"/>
            <a:ext cx="3630600" cy="5069160"/>
          </a:xfrm>
          <a:custGeom>
            <a:avLst/>
            <a:gdLst>
              <a:gd name="textAreaLeft" fmla="*/ -360 w 3630600"/>
              <a:gd name="textAreaRight" fmla="*/ 3630600 w 3630600"/>
              <a:gd name="textAreaTop" fmla="*/ 0 h 5069160"/>
              <a:gd name="textAreaBottom" fmla="*/ 5069520 h 5069160"/>
            </a:gdLst>
            <a:ahLst/>
            <a:rect l="textAreaLeft" t="textAreaTop" r="textAreaRight" b="textAreaBottom"/>
            <a:pathLst>
              <a:path w="3630903" h="5069563">
                <a:moveTo>
                  <a:pt x="3630904" y="0"/>
                </a:moveTo>
                <a:lnTo>
                  <a:pt x="0" y="0"/>
                </a:lnTo>
                <a:lnTo>
                  <a:pt x="0" y="5069562"/>
                </a:lnTo>
                <a:lnTo>
                  <a:pt x="3630904" y="5069562"/>
                </a:lnTo>
                <a:lnTo>
                  <a:pt x="3630904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" t="-3" r="-4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grpSp>
        <p:nvGrpSpPr>
          <p:cNvPr id="235" name="Group 11"/>
          <p:cNvGrpSpPr/>
          <p:nvPr/>
        </p:nvGrpSpPr>
        <p:grpSpPr>
          <a:xfrm>
            <a:off x="-3286440" y="9294840"/>
            <a:ext cx="5453280" cy="4283640"/>
            <a:chOff x="-3286440" y="9294840"/>
            <a:chExt cx="5453280" cy="4283640"/>
          </a:xfrm>
        </p:grpSpPr>
        <p:sp>
          <p:nvSpPr>
            <p:cNvPr id="236" name="Freeform 12"/>
            <p:cNvSpPr/>
            <p:nvPr/>
          </p:nvSpPr>
          <p:spPr>
            <a:xfrm>
              <a:off x="-3286440" y="9294840"/>
              <a:ext cx="5453280" cy="4283640"/>
            </a:xfrm>
            <a:custGeom>
              <a:avLst/>
              <a:gdLst>
                <a:gd name="textAreaLeft" fmla="*/ 0 w 5453280"/>
                <a:gd name="textAreaRight" fmla="*/ 5453640 w 5453280"/>
                <a:gd name="textAreaTop" fmla="*/ 0 h 4283640"/>
                <a:gd name="textAreaBottom" fmla="*/ 4284000 h 4283640"/>
              </a:gdLst>
              <a:ahLst/>
              <a:rect l="textAreaLeft" t="textAreaTop" r="textAreaRight" b="textAreaBottom"/>
              <a:pathLst>
                <a:path w="1144591" h="899105">
                  <a:moveTo>
                    <a:pt x="589770" y="6034"/>
                  </a:moveTo>
                  <a:lnTo>
                    <a:pt x="1137923" y="435851"/>
                  </a:lnTo>
                  <a:cubicBezTo>
                    <a:pt x="1142133" y="439151"/>
                    <a:pt x="1144591" y="444203"/>
                    <a:pt x="1144591" y="449552"/>
                  </a:cubicBezTo>
                  <a:cubicBezTo>
                    <a:pt x="1144591" y="454901"/>
                    <a:pt x="1142133" y="459954"/>
                    <a:pt x="1137923" y="463254"/>
                  </a:cubicBezTo>
                  <a:lnTo>
                    <a:pt x="589770" y="893071"/>
                  </a:lnTo>
                  <a:cubicBezTo>
                    <a:pt x="579509" y="901116"/>
                    <a:pt x="565082" y="901116"/>
                    <a:pt x="554822" y="893071"/>
                  </a:cubicBezTo>
                  <a:lnTo>
                    <a:pt x="6668" y="463254"/>
                  </a:lnTo>
                  <a:cubicBezTo>
                    <a:pt x="2459" y="459954"/>
                    <a:pt x="0" y="454901"/>
                    <a:pt x="0" y="449552"/>
                  </a:cubicBezTo>
                  <a:cubicBezTo>
                    <a:pt x="0" y="444203"/>
                    <a:pt x="2459" y="439151"/>
                    <a:pt x="6668" y="435851"/>
                  </a:cubicBezTo>
                  <a:lnTo>
                    <a:pt x="554822" y="6034"/>
                  </a:lnTo>
                  <a:cubicBezTo>
                    <a:pt x="565082" y="-2012"/>
                    <a:pt x="579509" y="-2012"/>
                    <a:pt x="589770" y="6034"/>
                  </a:cubicBez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37" name="TextBox 13"/>
            <p:cNvSpPr/>
            <p:nvPr/>
          </p:nvSpPr>
          <p:spPr>
            <a:xfrm>
              <a:off x="-2030760" y="10033200"/>
              <a:ext cx="2941200" cy="262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38" name="Group 14"/>
          <p:cNvGrpSpPr/>
          <p:nvPr/>
        </p:nvGrpSpPr>
        <p:grpSpPr>
          <a:xfrm>
            <a:off x="1159920" y="2908080"/>
            <a:ext cx="6494040" cy="2503080"/>
            <a:chOff x="1159920" y="2908080"/>
            <a:chExt cx="6494040" cy="2503080"/>
          </a:xfrm>
        </p:grpSpPr>
        <p:sp>
          <p:nvSpPr>
            <p:cNvPr id="239" name="Freeform 15"/>
            <p:cNvSpPr/>
            <p:nvPr/>
          </p:nvSpPr>
          <p:spPr>
            <a:xfrm>
              <a:off x="1159920" y="3093120"/>
              <a:ext cx="6494040" cy="2318040"/>
            </a:xfrm>
            <a:custGeom>
              <a:avLst/>
              <a:gdLst>
                <a:gd name="textAreaLeft" fmla="*/ 0 w 6494040"/>
                <a:gd name="textAreaRight" fmla="*/ 6494400 w 6494040"/>
                <a:gd name="textAreaTop" fmla="*/ 0 h 2318040"/>
                <a:gd name="textAreaBottom" fmla="*/ 2318400 h 2318040"/>
              </a:gdLst>
              <a:ahLst/>
              <a:rect l="textAreaLeft" t="textAreaTop" r="textAreaRight" b="textAreaBottom"/>
              <a:pathLst>
                <a:path w="1336271" h="477003">
                  <a:moveTo>
                    <a:pt x="23283" y="0"/>
                  </a:moveTo>
                  <a:lnTo>
                    <a:pt x="1312987" y="0"/>
                  </a:lnTo>
                  <a:cubicBezTo>
                    <a:pt x="1325846" y="0"/>
                    <a:pt x="1336271" y="10424"/>
                    <a:pt x="1336271" y="23283"/>
                  </a:cubicBezTo>
                  <a:lnTo>
                    <a:pt x="1336271" y="453720"/>
                  </a:lnTo>
                  <a:cubicBezTo>
                    <a:pt x="1336271" y="466579"/>
                    <a:pt x="1325846" y="477003"/>
                    <a:pt x="1312987" y="477003"/>
                  </a:cubicBezTo>
                  <a:lnTo>
                    <a:pt x="23283" y="477003"/>
                  </a:lnTo>
                  <a:cubicBezTo>
                    <a:pt x="10424" y="477003"/>
                    <a:pt x="0" y="466579"/>
                    <a:pt x="0" y="453720"/>
                  </a:cubicBezTo>
                  <a:lnTo>
                    <a:pt x="0" y="23283"/>
                  </a:lnTo>
                  <a:cubicBezTo>
                    <a:pt x="0" y="10424"/>
                    <a:pt x="10424" y="0"/>
                    <a:pt x="23283" y="0"/>
                  </a:cubicBez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40" name="TextBox 16"/>
            <p:cNvSpPr/>
            <p:nvPr/>
          </p:nvSpPr>
          <p:spPr>
            <a:xfrm>
              <a:off x="1159920" y="2908080"/>
              <a:ext cx="6494040" cy="25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41" name="TextBox 17"/>
          <p:cNvSpPr/>
          <p:nvPr/>
        </p:nvSpPr>
        <p:spPr>
          <a:xfrm>
            <a:off x="3598200" y="1512000"/>
            <a:ext cx="146894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45"/>
              </a:lnSpc>
            </a:pPr>
            <a:r>
              <a:rPr b="1" lang="en-US" sz="2110" strike="noStrike" u="none">
                <a:solidFill>
                  <a:srgbClr val="a6a6a6"/>
                </a:solidFill>
                <a:uFillTx/>
                <a:latin typeface="Canva Sans Bold"/>
                <a:ea typeface="Canva Sans Bold"/>
              </a:rPr>
              <a:t>-Bringing healthcare access closer to people who live far from hospitals</a:t>
            </a:r>
            <a:endParaRPr b="0" lang="en-US" sz="211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42" name="TextBox 18"/>
          <p:cNvSpPr/>
          <p:nvPr/>
        </p:nvSpPr>
        <p:spPr>
          <a:xfrm>
            <a:off x="2532240" y="3275280"/>
            <a:ext cx="363276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302"/>
              </a:lnSpc>
            </a:pPr>
            <a:r>
              <a:rPr b="1" lang="en-US" sz="1640" strike="noStrike" u="none">
                <a:solidFill>
                  <a:srgbClr val="d5c4ea"/>
                </a:solidFill>
                <a:uFillTx/>
                <a:latin typeface="Telegraf Bold"/>
                <a:ea typeface="Telegraf Bold"/>
              </a:rPr>
              <a:t>01 — ACCESS TO HEALTHCARE</a:t>
            </a:r>
            <a:endParaRPr b="0" lang="en-US" sz="16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43" name="TextBox 19"/>
          <p:cNvSpPr/>
          <p:nvPr/>
        </p:nvSpPr>
        <p:spPr>
          <a:xfrm>
            <a:off x="1391760" y="3975480"/>
            <a:ext cx="6030000" cy="11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79"/>
              </a:lnSpc>
            </a:pPr>
            <a:r>
              <a:rPr b="1" lang="en-US" sz="162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HEALTHCARE SCREENING BECOMES AVAILABLE CLOSER TO REMOTE COMMUNITIES, REDUCING THE NEED FOR EVERY PATIENT TO TRAVEL LONG DISTANCES FOR INITIAL ASSESSMENT.</a:t>
            </a:r>
            <a:endParaRPr b="0" lang="en-US" sz="1629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244" name="Group 20"/>
          <p:cNvGrpSpPr/>
          <p:nvPr/>
        </p:nvGrpSpPr>
        <p:grpSpPr>
          <a:xfrm>
            <a:off x="10318680" y="2908080"/>
            <a:ext cx="6494040" cy="2503080"/>
            <a:chOff x="10318680" y="2908080"/>
            <a:chExt cx="6494040" cy="2503080"/>
          </a:xfrm>
        </p:grpSpPr>
        <p:sp>
          <p:nvSpPr>
            <p:cNvPr id="245" name="Freeform 21"/>
            <p:cNvSpPr/>
            <p:nvPr/>
          </p:nvSpPr>
          <p:spPr>
            <a:xfrm>
              <a:off x="10318680" y="3093120"/>
              <a:ext cx="6494040" cy="2318040"/>
            </a:xfrm>
            <a:custGeom>
              <a:avLst/>
              <a:gdLst>
                <a:gd name="textAreaLeft" fmla="*/ 0 w 6494040"/>
                <a:gd name="textAreaRight" fmla="*/ 6494400 w 6494040"/>
                <a:gd name="textAreaTop" fmla="*/ 0 h 2318040"/>
                <a:gd name="textAreaBottom" fmla="*/ 2318400 h 2318040"/>
              </a:gdLst>
              <a:ahLst/>
              <a:rect l="textAreaLeft" t="textAreaTop" r="textAreaRight" b="textAreaBottom"/>
              <a:pathLst>
                <a:path w="1336271" h="477003">
                  <a:moveTo>
                    <a:pt x="23283" y="0"/>
                  </a:moveTo>
                  <a:lnTo>
                    <a:pt x="1312987" y="0"/>
                  </a:lnTo>
                  <a:cubicBezTo>
                    <a:pt x="1325846" y="0"/>
                    <a:pt x="1336271" y="10424"/>
                    <a:pt x="1336271" y="23283"/>
                  </a:cubicBezTo>
                  <a:lnTo>
                    <a:pt x="1336271" y="453720"/>
                  </a:lnTo>
                  <a:cubicBezTo>
                    <a:pt x="1336271" y="466579"/>
                    <a:pt x="1325846" y="477003"/>
                    <a:pt x="1312987" y="477003"/>
                  </a:cubicBezTo>
                  <a:lnTo>
                    <a:pt x="23283" y="477003"/>
                  </a:lnTo>
                  <a:cubicBezTo>
                    <a:pt x="10424" y="477003"/>
                    <a:pt x="0" y="466579"/>
                    <a:pt x="0" y="453720"/>
                  </a:cubicBezTo>
                  <a:lnTo>
                    <a:pt x="0" y="23283"/>
                  </a:lnTo>
                  <a:cubicBezTo>
                    <a:pt x="0" y="10424"/>
                    <a:pt x="10424" y="0"/>
                    <a:pt x="23283" y="0"/>
                  </a:cubicBez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46" name="TextBox 22"/>
            <p:cNvSpPr/>
            <p:nvPr/>
          </p:nvSpPr>
          <p:spPr>
            <a:xfrm>
              <a:off x="10318680" y="2908080"/>
              <a:ext cx="6494040" cy="25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47" name="TextBox 23"/>
          <p:cNvSpPr/>
          <p:nvPr/>
        </p:nvSpPr>
        <p:spPr>
          <a:xfrm>
            <a:off x="11749320" y="3276720"/>
            <a:ext cx="36327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trike="noStrike" u="none">
                <a:solidFill>
                  <a:srgbClr val="d5c4ea"/>
                </a:solidFill>
                <a:uFillTx/>
                <a:latin typeface="Canva Sans"/>
                <a:ea typeface="Canva Sans"/>
              </a:rPr>
              <a:t>02 — EARLY IDENTIFICATION</a:t>
            </a:r>
            <a:endParaRPr b="0" lang="en-US" sz="19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48" name="TextBox 24"/>
          <p:cNvSpPr/>
          <p:nvPr/>
        </p:nvSpPr>
        <p:spPr>
          <a:xfrm>
            <a:off x="10674360" y="4002840"/>
            <a:ext cx="6030000" cy="8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79"/>
              </a:lnSpc>
            </a:pPr>
            <a:r>
              <a:rPr b="1" lang="en-US" sz="162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REGULAR SCREENING CAN HELP IDENTIFY ABNORMAL HEALTH INDICATORS EARLIER AND SUPPORT TIMELY REFERRAL TO HEALTHCARE PROFESSIONALS.</a:t>
            </a:r>
            <a:endParaRPr b="0" lang="en-US" sz="1629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249" name="Group 25"/>
          <p:cNvGrpSpPr/>
          <p:nvPr/>
        </p:nvGrpSpPr>
        <p:grpSpPr>
          <a:xfrm>
            <a:off x="1203120" y="6455160"/>
            <a:ext cx="6494040" cy="2503080"/>
            <a:chOff x="1203120" y="6455160"/>
            <a:chExt cx="6494040" cy="2503080"/>
          </a:xfrm>
        </p:grpSpPr>
        <p:sp>
          <p:nvSpPr>
            <p:cNvPr id="250" name="Freeform 26"/>
            <p:cNvSpPr/>
            <p:nvPr/>
          </p:nvSpPr>
          <p:spPr>
            <a:xfrm>
              <a:off x="1203120" y="6640200"/>
              <a:ext cx="6494040" cy="2318040"/>
            </a:xfrm>
            <a:custGeom>
              <a:avLst/>
              <a:gdLst>
                <a:gd name="textAreaLeft" fmla="*/ 0 w 6494040"/>
                <a:gd name="textAreaRight" fmla="*/ 6494400 w 6494040"/>
                <a:gd name="textAreaTop" fmla="*/ 0 h 2318040"/>
                <a:gd name="textAreaBottom" fmla="*/ 2318400 h 2318040"/>
              </a:gdLst>
              <a:ahLst/>
              <a:rect l="textAreaLeft" t="textAreaTop" r="textAreaRight" b="textAreaBottom"/>
              <a:pathLst>
                <a:path w="1336271" h="477003">
                  <a:moveTo>
                    <a:pt x="23283" y="0"/>
                  </a:moveTo>
                  <a:lnTo>
                    <a:pt x="1312987" y="0"/>
                  </a:lnTo>
                  <a:cubicBezTo>
                    <a:pt x="1325846" y="0"/>
                    <a:pt x="1336271" y="10424"/>
                    <a:pt x="1336271" y="23283"/>
                  </a:cubicBezTo>
                  <a:lnTo>
                    <a:pt x="1336271" y="453720"/>
                  </a:lnTo>
                  <a:cubicBezTo>
                    <a:pt x="1336271" y="466579"/>
                    <a:pt x="1325846" y="477003"/>
                    <a:pt x="1312987" y="477003"/>
                  </a:cubicBezTo>
                  <a:lnTo>
                    <a:pt x="23283" y="477003"/>
                  </a:lnTo>
                  <a:cubicBezTo>
                    <a:pt x="10424" y="477003"/>
                    <a:pt x="0" y="466579"/>
                    <a:pt x="0" y="453720"/>
                  </a:cubicBezTo>
                  <a:lnTo>
                    <a:pt x="0" y="23283"/>
                  </a:lnTo>
                  <a:cubicBezTo>
                    <a:pt x="0" y="10424"/>
                    <a:pt x="10424" y="0"/>
                    <a:pt x="23283" y="0"/>
                  </a:cubicBez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51" name="TextBox 27"/>
            <p:cNvSpPr/>
            <p:nvPr/>
          </p:nvSpPr>
          <p:spPr>
            <a:xfrm>
              <a:off x="1203120" y="6455160"/>
              <a:ext cx="6494040" cy="25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52" name="TextBox 28"/>
          <p:cNvSpPr/>
          <p:nvPr/>
        </p:nvSpPr>
        <p:spPr>
          <a:xfrm>
            <a:off x="2532240" y="6821280"/>
            <a:ext cx="363276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302"/>
              </a:lnSpc>
            </a:pPr>
            <a:r>
              <a:rPr b="1" lang="en-US" sz="1640" strike="noStrike" u="none">
                <a:solidFill>
                  <a:srgbClr val="d5c4ea"/>
                </a:solidFill>
                <a:uFillTx/>
                <a:latin typeface="Telegraf Bold"/>
                <a:ea typeface="Telegraf Bold"/>
              </a:rPr>
              <a:t>03 — DIGITAL CONNECTIVITY</a:t>
            </a:r>
            <a:endParaRPr b="0" lang="en-US" sz="16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53" name="TextBox 29"/>
          <p:cNvSpPr/>
          <p:nvPr/>
        </p:nvSpPr>
        <p:spPr>
          <a:xfrm>
            <a:off x="1387800" y="7504560"/>
            <a:ext cx="6030000" cy="8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79"/>
              </a:lnSpc>
            </a:pPr>
            <a:r>
              <a:rPr b="1" lang="en-US" sz="162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PATIENT INFORMATION AND TEST RESULTS CAN BE SHARED DIGITALLY, HELPING CONNECT REMOTE COMMUNITIES WITH QUALIFIED DOCTORS.</a:t>
            </a:r>
            <a:endParaRPr b="0" lang="en-US" sz="1629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254" name="Group 30"/>
          <p:cNvGrpSpPr/>
          <p:nvPr/>
        </p:nvGrpSpPr>
        <p:grpSpPr>
          <a:xfrm>
            <a:off x="10442520" y="6455160"/>
            <a:ext cx="6494040" cy="2503080"/>
            <a:chOff x="10442520" y="6455160"/>
            <a:chExt cx="6494040" cy="2503080"/>
          </a:xfrm>
        </p:grpSpPr>
        <p:sp>
          <p:nvSpPr>
            <p:cNvPr id="255" name="Freeform 31"/>
            <p:cNvSpPr/>
            <p:nvPr/>
          </p:nvSpPr>
          <p:spPr>
            <a:xfrm>
              <a:off x="10442520" y="6640200"/>
              <a:ext cx="6494040" cy="2318040"/>
            </a:xfrm>
            <a:custGeom>
              <a:avLst/>
              <a:gdLst>
                <a:gd name="textAreaLeft" fmla="*/ 0 w 6494040"/>
                <a:gd name="textAreaRight" fmla="*/ 6494400 w 6494040"/>
                <a:gd name="textAreaTop" fmla="*/ 0 h 2318040"/>
                <a:gd name="textAreaBottom" fmla="*/ 2318400 h 2318040"/>
              </a:gdLst>
              <a:ahLst/>
              <a:rect l="textAreaLeft" t="textAreaTop" r="textAreaRight" b="textAreaBottom"/>
              <a:pathLst>
                <a:path w="1336271" h="477003">
                  <a:moveTo>
                    <a:pt x="23283" y="0"/>
                  </a:moveTo>
                  <a:lnTo>
                    <a:pt x="1312987" y="0"/>
                  </a:lnTo>
                  <a:cubicBezTo>
                    <a:pt x="1325846" y="0"/>
                    <a:pt x="1336271" y="10424"/>
                    <a:pt x="1336271" y="23283"/>
                  </a:cubicBezTo>
                  <a:lnTo>
                    <a:pt x="1336271" y="453720"/>
                  </a:lnTo>
                  <a:cubicBezTo>
                    <a:pt x="1336271" y="466579"/>
                    <a:pt x="1325846" y="477003"/>
                    <a:pt x="1312987" y="477003"/>
                  </a:cubicBezTo>
                  <a:lnTo>
                    <a:pt x="23283" y="477003"/>
                  </a:lnTo>
                  <a:cubicBezTo>
                    <a:pt x="10424" y="477003"/>
                    <a:pt x="0" y="466579"/>
                    <a:pt x="0" y="453720"/>
                  </a:cubicBezTo>
                  <a:lnTo>
                    <a:pt x="0" y="23283"/>
                  </a:lnTo>
                  <a:cubicBezTo>
                    <a:pt x="0" y="10424"/>
                    <a:pt x="10424" y="0"/>
                    <a:pt x="23283" y="0"/>
                  </a:cubicBezTo>
                  <a:close/>
                </a:path>
              </a:pathLst>
            </a:custGeom>
            <a:solidFill>
              <a:srgbClr val="7373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56" name="TextBox 32"/>
            <p:cNvSpPr/>
            <p:nvPr/>
          </p:nvSpPr>
          <p:spPr>
            <a:xfrm>
              <a:off x="10442520" y="6455160"/>
              <a:ext cx="6494040" cy="25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57" name="TextBox 33"/>
          <p:cNvSpPr/>
          <p:nvPr/>
        </p:nvSpPr>
        <p:spPr>
          <a:xfrm>
            <a:off x="11749320" y="6821280"/>
            <a:ext cx="363276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302"/>
              </a:lnSpc>
            </a:pPr>
            <a:r>
              <a:rPr b="1" lang="en-US" sz="1640" strike="noStrike" u="none">
                <a:solidFill>
                  <a:srgbClr val="d5c4ea"/>
                </a:solidFill>
                <a:uFillTx/>
                <a:latin typeface="Telegraf Bold"/>
                <a:ea typeface="Telegraf Bold"/>
              </a:rPr>
              <a:t>04 — INCLUSIVE DEVELOPMENT</a:t>
            </a:r>
            <a:endParaRPr b="0" lang="en-US" sz="164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58" name="TextBox 34"/>
          <p:cNvSpPr/>
          <p:nvPr/>
        </p:nvSpPr>
        <p:spPr>
          <a:xfrm>
            <a:off x="10674360" y="7558200"/>
            <a:ext cx="6030000" cy="8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79"/>
              </a:lnSpc>
            </a:pPr>
            <a:r>
              <a:rPr b="1" lang="en-US" sz="162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COMBINES ROBOTICS, AI, HEALTHCARE AND CONNECTIVITY TO EXTEND THE BENEFITS OF TECHNOLOGY BEYOND URBAN AREAS.</a:t>
            </a:r>
            <a:endParaRPr b="0" lang="en-US" sz="1629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grpSp>
        <p:nvGrpSpPr>
          <p:cNvPr id="259" name="Group 35"/>
          <p:cNvGrpSpPr/>
          <p:nvPr/>
        </p:nvGrpSpPr>
        <p:grpSpPr>
          <a:xfrm>
            <a:off x="16301880" y="6507720"/>
            <a:ext cx="15318360" cy="8202600"/>
            <a:chOff x="16301880" y="6507720"/>
            <a:chExt cx="15318360" cy="8202600"/>
          </a:xfrm>
        </p:grpSpPr>
        <p:sp>
          <p:nvSpPr>
            <p:cNvPr id="260" name="Freeform 36"/>
            <p:cNvSpPr/>
            <p:nvPr/>
          </p:nvSpPr>
          <p:spPr>
            <a:xfrm rot="5400000">
              <a:off x="19859760" y="294948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261" name="TextBox 37"/>
            <p:cNvSpPr/>
            <p:nvPr/>
          </p:nvSpPr>
          <p:spPr>
            <a:xfrm rot="5400000">
              <a:off x="20701080" y="431352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roup 2"/>
          <p:cNvGrpSpPr/>
          <p:nvPr/>
        </p:nvGrpSpPr>
        <p:grpSpPr>
          <a:xfrm>
            <a:off x="1359720" y="-3238920"/>
            <a:ext cx="15318360" cy="8202600"/>
            <a:chOff x="1359720" y="-3238920"/>
            <a:chExt cx="15318360" cy="8202600"/>
          </a:xfrm>
        </p:grpSpPr>
        <p:sp>
          <p:nvSpPr>
            <p:cNvPr id="263" name="Freeform 3"/>
            <p:cNvSpPr/>
            <p:nvPr/>
          </p:nvSpPr>
          <p:spPr>
            <a:xfrm rot="16200000">
              <a:off x="4917600" y="-679644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264" name="TextBox 4"/>
            <p:cNvSpPr/>
            <p:nvPr/>
          </p:nvSpPr>
          <p:spPr>
            <a:xfrm rot="16200000">
              <a:off x="5613840" y="-543312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65" name="Group 5"/>
          <p:cNvGrpSpPr/>
          <p:nvPr/>
        </p:nvGrpSpPr>
        <p:grpSpPr>
          <a:xfrm>
            <a:off x="1221840" y="5540760"/>
            <a:ext cx="15318360" cy="8202600"/>
            <a:chOff x="1221840" y="5540760"/>
            <a:chExt cx="15318360" cy="8202600"/>
          </a:xfrm>
        </p:grpSpPr>
        <p:sp>
          <p:nvSpPr>
            <p:cNvPr id="266" name="Freeform 6"/>
            <p:cNvSpPr/>
            <p:nvPr/>
          </p:nvSpPr>
          <p:spPr>
            <a:xfrm rot="5400000">
              <a:off x="4779720" y="198252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267" name="TextBox 7"/>
            <p:cNvSpPr/>
            <p:nvPr/>
          </p:nvSpPr>
          <p:spPr>
            <a:xfrm rot="5400000">
              <a:off x="5620680" y="334692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68" name="Freeform 8"/>
          <p:cNvSpPr/>
          <p:nvPr/>
        </p:nvSpPr>
        <p:spPr>
          <a:xfrm>
            <a:off x="14068800" y="-601200"/>
            <a:ext cx="5127480" cy="5141880"/>
          </a:xfrm>
          <a:custGeom>
            <a:avLst/>
            <a:gdLst>
              <a:gd name="textAreaLeft" fmla="*/ 0 w 5127480"/>
              <a:gd name="textAreaRight" fmla="*/ 5127840 w 5127480"/>
              <a:gd name="textAreaTop" fmla="*/ 0 h 5141880"/>
              <a:gd name="textAreaBottom" fmla="*/ 5142240 h 5141880"/>
            </a:gdLst>
            <a:ahLst/>
            <a:rect l="textAreaLeft" t="textAreaTop" r="textAreaRight" b="textAreaBottom"/>
            <a:pathLst>
              <a:path w="5127670" h="5142279">
                <a:moveTo>
                  <a:pt x="0" y="0"/>
                </a:moveTo>
                <a:lnTo>
                  <a:pt x="5127670" y="0"/>
                </a:lnTo>
                <a:lnTo>
                  <a:pt x="5127670" y="5142278"/>
                </a:lnTo>
                <a:lnTo>
                  <a:pt x="0" y="51422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3" t="-3" r="-3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9" name="Freeform 9"/>
          <p:cNvSpPr/>
          <p:nvPr/>
        </p:nvSpPr>
        <p:spPr>
          <a:xfrm flipH="1">
            <a:off x="-909360" y="-601200"/>
            <a:ext cx="5127480" cy="5141880"/>
          </a:xfrm>
          <a:custGeom>
            <a:avLst/>
            <a:gdLst>
              <a:gd name="textAreaLeft" fmla="*/ -360 w 5127480"/>
              <a:gd name="textAreaRight" fmla="*/ 5127480 w 5127480"/>
              <a:gd name="textAreaTop" fmla="*/ 0 h 5141880"/>
              <a:gd name="textAreaBottom" fmla="*/ 5142240 h 5141880"/>
            </a:gdLst>
            <a:ahLst/>
            <a:rect l="textAreaLeft" t="textAreaTop" r="textAreaRight" b="textAreaBottom"/>
            <a:pathLst>
              <a:path w="5127670" h="5142279">
                <a:moveTo>
                  <a:pt x="5127670" y="0"/>
                </a:moveTo>
                <a:lnTo>
                  <a:pt x="0" y="0"/>
                </a:lnTo>
                <a:lnTo>
                  <a:pt x="0" y="5142278"/>
                </a:lnTo>
                <a:lnTo>
                  <a:pt x="5127670" y="5142278"/>
                </a:lnTo>
                <a:lnTo>
                  <a:pt x="512767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3" t="-3" r="-3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70" name="TextBox 10"/>
          <p:cNvSpPr/>
          <p:nvPr/>
        </p:nvSpPr>
        <p:spPr>
          <a:xfrm>
            <a:off x="2017080" y="610560"/>
            <a:ext cx="1461528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887"/>
              </a:lnSpc>
            </a:pPr>
            <a:r>
              <a:rPr b="1" lang="en-US" sz="55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FROM PROTOTYPE TO A CONNECTED HEALTHCARE NETWORK</a:t>
            </a:r>
            <a:endParaRPr b="0" lang="en-US" sz="55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1" name="TextBox 11"/>
          <p:cNvSpPr/>
          <p:nvPr/>
        </p:nvSpPr>
        <p:spPr>
          <a:xfrm>
            <a:off x="6543720" y="2148120"/>
            <a:ext cx="1114776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636"/>
              </a:lnSpc>
            </a:pPr>
            <a:r>
              <a:rPr b="1" lang="en-US" sz="1829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BUILDING A SCALABLE HEALTHCARE-SUPPORT SYSTEM FOR REMOTE COMMUNITIES</a:t>
            </a:r>
            <a:endParaRPr b="0" lang="en-US" sz="1829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2" name="TextBox 12"/>
          <p:cNvSpPr/>
          <p:nvPr/>
        </p:nvSpPr>
        <p:spPr>
          <a:xfrm>
            <a:off x="5317560" y="1946160"/>
            <a:ext cx="2452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887"/>
              </a:lnSpc>
            </a:pPr>
            <a:r>
              <a:rPr b="1" lang="en-US" sz="55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-</a:t>
            </a:r>
            <a:endParaRPr b="0" lang="en-US" sz="55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3" name="TextBox 13"/>
          <p:cNvSpPr/>
          <p:nvPr/>
        </p:nvSpPr>
        <p:spPr>
          <a:xfrm>
            <a:off x="-709920" y="3271320"/>
            <a:ext cx="67806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68"/>
              </a:lnSpc>
            </a:pPr>
            <a:r>
              <a:rPr b="1" lang="en-US" sz="255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01 — PROTOTYPE</a:t>
            </a:r>
            <a:endParaRPr b="0" lang="en-US" sz="255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4" name="TextBox 14"/>
          <p:cNvSpPr/>
          <p:nvPr/>
        </p:nvSpPr>
        <p:spPr>
          <a:xfrm>
            <a:off x="2423520" y="5110920"/>
            <a:ext cx="10144440" cy="13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34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34"/>
              </a:lnSpc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 </a:t>
            </a:r>
            <a:r>
              <a:rPr b="1" lang="en-US" sz="24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Test the system in selected remOTE COMMUNITIES</a:t>
            </a:r>
            <a:endParaRPr b="0" lang="en-US" sz="24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34"/>
              </a:lnSpc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FOCUS: REAL-WORLD USABILITY • COMMUNITY FEEDBACK</a:t>
            </a:r>
            <a:endParaRPr b="0" lang="en-US" sz="24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34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34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5" name="TextBox 15"/>
          <p:cNvSpPr/>
          <p:nvPr/>
        </p:nvSpPr>
        <p:spPr>
          <a:xfrm>
            <a:off x="2636280" y="3489840"/>
            <a:ext cx="177048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529"/>
              </a:lnSpc>
            </a:pPr>
            <a:r>
              <a:rPr b="1" lang="en-US" sz="39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-</a:t>
            </a:r>
            <a:endParaRPr b="0" lang="en-US" sz="39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6" name="TextBox 16"/>
          <p:cNvSpPr/>
          <p:nvPr/>
        </p:nvSpPr>
        <p:spPr>
          <a:xfrm>
            <a:off x="-384120" y="4929840"/>
            <a:ext cx="6454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60"/>
              </a:lnSpc>
            </a:pPr>
            <a:r>
              <a:rPr b="1" lang="en-US" sz="24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02 — PILOT VILLAGES</a:t>
            </a:r>
            <a:endParaRPr b="0" lang="en-US" sz="242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7" name="TextBox 17"/>
          <p:cNvSpPr/>
          <p:nvPr/>
        </p:nvSpPr>
        <p:spPr>
          <a:xfrm>
            <a:off x="2169360" y="3503520"/>
            <a:ext cx="10144440" cy="13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34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34"/>
              </a:lnSpc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 </a:t>
            </a:r>
            <a:r>
              <a:rPr b="1" lang="en-US" sz="24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Build and test the first ROBO DOCTOR</a:t>
            </a:r>
            <a:endParaRPr b="0" lang="en-US" sz="24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34"/>
              </a:lnSpc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FOCUS: SAFETY • MOBILITY • SCREENING • CONNECTIVITY</a:t>
            </a:r>
            <a:endParaRPr b="0" lang="en-US" sz="24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34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134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8" name="TextBox 18"/>
          <p:cNvSpPr/>
          <p:nvPr/>
        </p:nvSpPr>
        <p:spPr>
          <a:xfrm>
            <a:off x="1770480" y="5158440"/>
            <a:ext cx="2145600" cy="5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77"/>
              </a:lnSpc>
            </a:pPr>
            <a:r>
              <a:rPr b="1" lang="en-US" sz="48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-</a:t>
            </a:r>
            <a:endParaRPr b="0" lang="en-US" sz="4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9" name="TextBox 19"/>
          <p:cNvSpPr/>
          <p:nvPr/>
        </p:nvSpPr>
        <p:spPr>
          <a:xfrm>
            <a:off x="1028880" y="6662160"/>
            <a:ext cx="6454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60"/>
              </a:lnSpc>
            </a:pPr>
            <a:r>
              <a:rPr b="1" lang="en-US" sz="24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03 — REMOTE HEALTHCARE NETWORK</a:t>
            </a:r>
            <a:endParaRPr b="0" lang="en-US" sz="242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0" name="TextBox 20"/>
          <p:cNvSpPr/>
          <p:nvPr/>
        </p:nvSpPr>
        <p:spPr>
          <a:xfrm>
            <a:off x="2261160" y="7072200"/>
            <a:ext cx="2145600" cy="5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77"/>
              </a:lnSpc>
            </a:pPr>
            <a:r>
              <a:rPr b="1" lang="en-US" sz="48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-</a:t>
            </a:r>
            <a:endParaRPr b="0" lang="en-US" sz="4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1" name="TextBox 21"/>
          <p:cNvSpPr/>
          <p:nvPr/>
        </p:nvSpPr>
        <p:spPr>
          <a:xfrm>
            <a:off x="3603960" y="7246440"/>
            <a:ext cx="907128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667"/>
              </a:lnSpc>
            </a:pPr>
            <a:r>
              <a:rPr b="1" lang="en-US" sz="18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CONNect multiple Robo Doctors with healthcare prOFESSIONALS</a:t>
            </a:r>
            <a:endParaRPr b="0" lang="en-US" sz="187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1667"/>
              </a:lnSpc>
            </a:pPr>
            <a:r>
              <a:rPr b="1" lang="en-US" sz="18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FOCUS: TELECONSULTATION • DIGITAL RECORDS • REMOTE SUPPORT</a:t>
            </a:r>
            <a:endParaRPr b="0" lang="en-US" sz="18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2" name="TextBox 22"/>
          <p:cNvSpPr/>
          <p:nvPr/>
        </p:nvSpPr>
        <p:spPr>
          <a:xfrm>
            <a:off x="-540360" y="8253360"/>
            <a:ext cx="6454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60"/>
              </a:lnSpc>
            </a:pPr>
            <a:r>
              <a:rPr b="1" lang="en-US" sz="242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04 — 2047 VISION</a:t>
            </a:r>
            <a:endParaRPr b="0" lang="en-US" sz="242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3" name="TextBox 23"/>
          <p:cNvSpPr/>
          <p:nvPr/>
        </p:nvSpPr>
        <p:spPr>
          <a:xfrm>
            <a:off x="2261160" y="8663040"/>
            <a:ext cx="2145600" cy="5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77"/>
              </a:lnSpc>
            </a:pPr>
            <a:r>
              <a:rPr b="1" lang="en-US" sz="48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-</a:t>
            </a:r>
            <a:endParaRPr b="0" lang="en-US" sz="4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84" name="TextBox 24"/>
          <p:cNvSpPr/>
          <p:nvPr/>
        </p:nvSpPr>
        <p:spPr>
          <a:xfrm>
            <a:off x="3568680" y="8837280"/>
            <a:ext cx="907128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667"/>
              </a:lnSpc>
            </a:pPr>
            <a:r>
              <a:rPr b="1" lang="en-US" sz="18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EXPAND the model to more underservED COMMUNITIES</a:t>
            </a:r>
            <a:endParaRPr b="0" lang="en-US" sz="187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1667"/>
              </a:lnSpc>
            </a:pPr>
            <a:r>
              <a:rPr b="1" lang="en-US" sz="187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FOCUS: ACCESSIBLE • CONNECTED • TECHNOLOGY-ENABLED HEALTHCARE</a:t>
            </a:r>
            <a:endParaRPr b="0" lang="en-US" sz="187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roup 2"/>
          <p:cNvGrpSpPr/>
          <p:nvPr/>
        </p:nvGrpSpPr>
        <p:grpSpPr>
          <a:xfrm>
            <a:off x="1484640" y="-3301560"/>
            <a:ext cx="15318360" cy="8202600"/>
            <a:chOff x="1484640" y="-3301560"/>
            <a:chExt cx="15318360" cy="8202600"/>
          </a:xfrm>
        </p:grpSpPr>
        <p:sp>
          <p:nvSpPr>
            <p:cNvPr id="286" name="Freeform 3"/>
            <p:cNvSpPr/>
            <p:nvPr/>
          </p:nvSpPr>
          <p:spPr>
            <a:xfrm rot="16200000">
              <a:off x="5042520" y="-6859080"/>
              <a:ext cx="8202600" cy="15318360"/>
            </a:xfrm>
            <a:custGeom>
              <a:avLst/>
              <a:gdLst>
                <a:gd name="textAreaLeft" fmla="*/ 0 w 8202600"/>
                <a:gd name="textAreaRight" fmla="*/ 8202960 w 8202600"/>
                <a:gd name="textAreaTop" fmla="*/ 0 h 15318360"/>
                <a:gd name="textAreaBottom" fmla="*/ 15318720 h 15318360"/>
              </a:gdLst>
              <a:ahLst/>
              <a:rect l="textAreaLeft" t="textAreaTop" r="textAreaRight" b="textAreaBottom"/>
              <a:pathLst>
                <a:path w="2160455" h="4034537">
                  <a:moveTo>
                    <a:pt x="1080227" y="0"/>
                  </a:moveTo>
                  <a:cubicBezTo>
                    <a:pt x="483634" y="0"/>
                    <a:pt x="0" y="903162"/>
                    <a:pt x="0" y="2017268"/>
                  </a:cubicBezTo>
                  <a:cubicBezTo>
                    <a:pt x="0" y="3131375"/>
                    <a:pt x="483634" y="4034537"/>
                    <a:pt x="1080227" y="4034537"/>
                  </a:cubicBezTo>
                  <a:cubicBezTo>
                    <a:pt x="1676820" y="4034537"/>
                    <a:pt x="2160455" y="3131375"/>
                    <a:pt x="2160455" y="2017268"/>
                  </a:cubicBezTo>
                  <a:cubicBezTo>
                    <a:pt x="2160455" y="903162"/>
                    <a:pt x="1676820" y="0"/>
                    <a:pt x="1080227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3533cd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Noto Sans CJK SC"/>
              </a:endParaRPr>
            </a:p>
          </p:txBody>
        </p:sp>
        <p:sp>
          <p:nvSpPr>
            <p:cNvPr id="287" name="TextBox 4"/>
            <p:cNvSpPr/>
            <p:nvPr/>
          </p:nvSpPr>
          <p:spPr>
            <a:xfrm rot="16200000">
              <a:off x="5739120" y="-5495400"/>
              <a:ext cx="6664680" cy="1259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88" name="Freeform 5"/>
          <p:cNvSpPr/>
          <p:nvPr/>
        </p:nvSpPr>
        <p:spPr>
          <a:xfrm>
            <a:off x="14068800" y="-601200"/>
            <a:ext cx="5127480" cy="5141880"/>
          </a:xfrm>
          <a:custGeom>
            <a:avLst/>
            <a:gdLst>
              <a:gd name="textAreaLeft" fmla="*/ 0 w 5127480"/>
              <a:gd name="textAreaRight" fmla="*/ 5127840 w 5127480"/>
              <a:gd name="textAreaTop" fmla="*/ 0 h 5141880"/>
              <a:gd name="textAreaBottom" fmla="*/ 5142240 h 5141880"/>
            </a:gdLst>
            <a:ahLst/>
            <a:rect l="textAreaLeft" t="textAreaTop" r="textAreaRight" b="textAreaBottom"/>
            <a:pathLst>
              <a:path w="5127670" h="5142279">
                <a:moveTo>
                  <a:pt x="0" y="0"/>
                </a:moveTo>
                <a:lnTo>
                  <a:pt x="5127670" y="0"/>
                </a:lnTo>
                <a:lnTo>
                  <a:pt x="5127670" y="5142278"/>
                </a:lnTo>
                <a:lnTo>
                  <a:pt x="0" y="51422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3" t="-3" r="-3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89" name="Freeform 6"/>
          <p:cNvSpPr/>
          <p:nvPr/>
        </p:nvSpPr>
        <p:spPr>
          <a:xfrm flipH="1">
            <a:off x="-909360" y="-601200"/>
            <a:ext cx="5127480" cy="5141880"/>
          </a:xfrm>
          <a:custGeom>
            <a:avLst/>
            <a:gdLst>
              <a:gd name="textAreaLeft" fmla="*/ -360 w 5127480"/>
              <a:gd name="textAreaRight" fmla="*/ 5127480 w 5127480"/>
              <a:gd name="textAreaTop" fmla="*/ 0 h 5141880"/>
              <a:gd name="textAreaBottom" fmla="*/ 5142240 h 5141880"/>
            </a:gdLst>
            <a:ahLst/>
            <a:rect l="textAreaLeft" t="textAreaTop" r="textAreaRight" b="textAreaBottom"/>
            <a:pathLst>
              <a:path w="5127670" h="5142279">
                <a:moveTo>
                  <a:pt x="5127670" y="0"/>
                </a:moveTo>
                <a:lnTo>
                  <a:pt x="0" y="0"/>
                </a:lnTo>
                <a:lnTo>
                  <a:pt x="0" y="5142278"/>
                </a:lnTo>
                <a:lnTo>
                  <a:pt x="5127670" y="5142278"/>
                </a:lnTo>
                <a:lnTo>
                  <a:pt x="512767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3" t="-3" r="-3" b="-3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0" name="Freeform 7"/>
          <p:cNvSpPr/>
          <p:nvPr/>
        </p:nvSpPr>
        <p:spPr>
          <a:xfrm>
            <a:off x="0" y="6802560"/>
            <a:ext cx="2705400" cy="3777480"/>
          </a:xfrm>
          <a:custGeom>
            <a:avLst/>
            <a:gdLst>
              <a:gd name="textAreaLeft" fmla="*/ 0 w 2705400"/>
              <a:gd name="textAreaRight" fmla="*/ 2705760 w 2705400"/>
              <a:gd name="textAreaTop" fmla="*/ 0 h 3777480"/>
              <a:gd name="textAreaBottom" fmla="*/ 3777840 h 3777480"/>
            </a:gdLst>
            <a:ahLst/>
            <a:rect l="textAreaLeft" t="textAreaTop" r="textAreaRight" b="textAreaBottom"/>
            <a:pathLst>
              <a:path w="2705679" h="3777741">
                <a:moveTo>
                  <a:pt x="0" y="0"/>
                </a:moveTo>
                <a:lnTo>
                  <a:pt x="2705679" y="0"/>
                </a:lnTo>
                <a:lnTo>
                  <a:pt x="2705679" y="3777741"/>
                </a:lnTo>
                <a:lnTo>
                  <a:pt x="0" y="37777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l="-6" t="-4" r="-6" b="-4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1" name="Freeform 8"/>
          <p:cNvSpPr/>
          <p:nvPr/>
        </p:nvSpPr>
        <p:spPr>
          <a:xfrm flipH="1">
            <a:off x="15589800" y="6802560"/>
            <a:ext cx="2705400" cy="3777480"/>
          </a:xfrm>
          <a:custGeom>
            <a:avLst/>
            <a:gdLst>
              <a:gd name="textAreaLeft" fmla="*/ -360 w 2705400"/>
              <a:gd name="textAreaRight" fmla="*/ 2705400 w 2705400"/>
              <a:gd name="textAreaTop" fmla="*/ 0 h 3777480"/>
              <a:gd name="textAreaBottom" fmla="*/ 3777840 h 3777480"/>
            </a:gdLst>
            <a:ahLst/>
            <a:rect l="textAreaLeft" t="textAreaTop" r="textAreaRight" b="textAreaBottom"/>
            <a:pathLst>
              <a:path w="2705679" h="3777741">
                <a:moveTo>
                  <a:pt x="2705680" y="0"/>
                </a:moveTo>
                <a:lnTo>
                  <a:pt x="0" y="0"/>
                </a:lnTo>
                <a:lnTo>
                  <a:pt x="0" y="3777741"/>
                </a:lnTo>
                <a:lnTo>
                  <a:pt x="2705680" y="3777741"/>
                </a:lnTo>
                <a:lnTo>
                  <a:pt x="270568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l="-6" t="-4" r="-6" b="-4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2" name="Freeform 9"/>
          <p:cNvSpPr/>
          <p:nvPr/>
        </p:nvSpPr>
        <p:spPr>
          <a:xfrm>
            <a:off x="3108240" y="1357560"/>
            <a:ext cx="11696400" cy="8759880"/>
          </a:xfrm>
          <a:custGeom>
            <a:avLst/>
            <a:gdLst>
              <a:gd name="textAreaLeft" fmla="*/ 0 w 11696400"/>
              <a:gd name="textAreaRight" fmla="*/ 11696760 w 11696400"/>
              <a:gd name="textAreaTop" fmla="*/ 0 h 8759880"/>
              <a:gd name="textAreaBottom" fmla="*/ 8760240 h 8759880"/>
            </a:gdLst>
            <a:ahLst/>
            <a:rect l="textAreaLeft" t="textAreaTop" r="textAreaRight" b="textAreaBottom"/>
            <a:pathLst>
              <a:path w="11696631" h="8760088">
                <a:moveTo>
                  <a:pt x="0" y="0"/>
                </a:moveTo>
                <a:lnTo>
                  <a:pt x="11696630" y="0"/>
                </a:lnTo>
                <a:lnTo>
                  <a:pt x="11696630" y="8760089"/>
                </a:lnTo>
                <a:lnTo>
                  <a:pt x="0" y="87600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alphaModFix amt="3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grpSp>
        <p:nvGrpSpPr>
          <p:cNvPr id="293" name="Group 10"/>
          <p:cNvGrpSpPr/>
          <p:nvPr/>
        </p:nvGrpSpPr>
        <p:grpSpPr>
          <a:xfrm>
            <a:off x="12870360" y="6490800"/>
            <a:ext cx="7537320" cy="4267080"/>
            <a:chOff x="12870360" y="6490800"/>
            <a:chExt cx="7537320" cy="4267080"/>
          </a:xfrm>
        </p:grpSpPr>
        <p:sp>
          <p:nvSpPr>
            <p:cNvPr id="294" name="Freeform 11"/>
            <p:cNvSpPr/>
            <p:nvPr/>
          </p:nvSpPr>
          <p:spPr>
            <a:xfrm>
              <a:off x="12870360" y="6490800"/>
              <a:ext cx="7537320" cy="4267080"/>
            </a:xfrm>
            <a:custGeom>
              <a:avLst/>
              <a:gdLst>
                <a:gd name="textAreaLeft" fmla="*/ 0 w 7537320"/>
                <a:gd name="textAreaRight" fmla="*/ 7537680 w 7537320"/>
                <a:gd name="textAreaTop" fmla="*/ 0 h 4267080"/>
                <a:gd name="textAreaBottom" fmla="*/ 4267440 h 4267080"/>
              </a:gdLst>
              <a:ahLst/>
              <a:rect l="textAreaLeft" t="textAreaTop" r="textAreaRight" b="textAreaBottom"/>
              <a:pathLst>
                <a:path w="984094" h="557170">
                  <a:moveTo>
                    <a:pt x="506039" y="3673"/>
                  </a:moveTo>
                  <a:lnTo>
                    <a:pt x="979485" y="270693"/>
                  </a:lnTo>
                  <a:cubicBezTo>
                    <a:pt x="982333" y="272300"/>
                    <a:pt x="984094" y="275315"/>
                    <a:pt x="984094" y="278585"/>
                  </a:cubicBezTo>
                  <a:cubicBezTo>
                    <a:pt x="984094" y="281854"/>
                    <a:pt x="982333" y="284870"/>
                    <a:pt x="979485" y="286476"/>
                  </a:cubicBezTo>
                  <a:lnTo>
                    <a:pt x="506039" y="553496"/>
                  </a:lnTo>
                  <a:cubicBezTo>
                    <a:pt x="497354" y="558394"/>
                    <a:pt x="486741" y="558394"/>
                    <a:pt x="478056" y="553496"/>
                  </a:cubicBezTo>
                  <a:lnTo>
                    <a:pt x="4610" y="286476"/>
                  </a:lnTo>
                  <a:cubicBezTo>
                    <a:pt x="1762" y="284870"/>
                    <a:pt x="0" y="281854"/>
                    <a:pt x="0" y="278585"/>
                  </a:cubicBezTo>
                  <a:cubicBezTo>
                    <a:pt x="0" y="275315"/>
                    <a:pt x="1762" y="272300"/>
                    <a:pt x="4610" y="270693"/>
                  </a:cubicBezTo>
                  <a:lnTo>
                    <a:pt x="478056" y="3673"/>
                  </a:lnTo>
                  <a:cubicBezTo>
                    <a:pt x="486741" y="-1225"/>
                    <a:pt x="497354" y="-1225"/>
                    <a:pt x="506039" y="36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Noto Sans CJK SC"/>
              </a:endParaRPr>
            </a:p>
          </p:txBody>
        </p:sp>
        <p:sp>
          <p:nvSpPr>
            <p:cNvPr id="295" name="TextBox 12"/>
            <p:cNvSpPr/>
            <p:nvPr/>
          </p:nvSpPr>
          <p:spPr>
            <a:xfrm>
              <a:off x="14605920" y="7117560"/>
              <a:ext cx="4066200" cy="272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96" name="TextBox 13"/>
          <p:cNvSpPr/>
          <p:nvPr/>
        </p:nvSpPr>
        <p:spPr>
          <a:xfrm>
            <a:off x="250200" y="682560"/>
            <a:ext cx="18206280" cy="13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309"/>
              </a:lnSpc>
            </a:pPr>
            <a:r>
              <a:rPr b="1" lang="en-US" sz="5960" strike="noStrike" u="none">
                <a:solidFill>
                  <a:srgbClr val="777168"/>
                </a:solidFill>
                <a:uFillTx/>
                <a:latin typeface="Telegraf Bold"/>
                <a:ea typeface="Telegraf Bold"/>
              </a:rPr>
              <a:t>FROM AN IDEA-TO A WORKING PROTOTYPE</a:t>
            </a:r>
            <a:endParaRPr b="0" lang="en-US" sz="596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5309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7" name="TextBox 14"/>
          <p:cNvSpPr/>
          <p:nvPr/>
        </p:nvSpPr>
        <p:spPr>
          <a:xfrm>
            <a:off x="1484640" y="2179800"/>
            <a:ext cx="15271200" cy="17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755"/>
              </a:lnSpc>
            </a:pPr>
            <a:r>
              <a:rPr b="1" lang="en-US" sz="3100" strike="noStrike" u="none">
                <a:solidFill>
                  <a:srgbClr val="a6a6a6"/>
                </a:solidFill>
                <a:uFillTx/>
                <a:latin typeface="Telegraf Bold"/>
                <a:ea typeface="Telegraf Bold"/>
              </a:rPr>
              <a:t>WE ARE TRIBAL TECH INNOVATORS FROM SRI GOWTHAM CBSE SCHOOL.</a:t>
            </a:r>
            <a:endParaRPr b="0" lang="en-US" sz="31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755"/>
              </a:lnSpc>
            </a:pPr>
            <a:r>
              <a:rPr b="1" lang="en-US" sz="3100" strike="noStrike" u="none">
                <a:solidFill>
                  <a:srgbClr val="a6a6a6"/>
                </a:solidFill>
                <a:uFillTx/>
                <a:latin typeface="Telegraf Bold"/>
                <a:ea typeface="Telegraf Bold"/>
              </a:rPr>
              <a:t>OUR IDEA, ROBO DOCTOR, IS DESIGNED TO EXPLORE HOW ROBOTICS, AI, DIAGNOSTICS AND CONNECTIVITY CAN HELP BRING HEALTHCARE SUPPORT CLOSER TO REMOTE AND TRIBAL COMMUNITIES.</a:t>
            </a:r>
            <a:endParaRPr b="0" lang="en-US" sz="310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2755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8" name="TextBox 15"/>
          <p:cNvSpPr/>
          <p:nvPr/>
        </p:nvSpPr>
        <p:spPr>
          <a:xfrm>
            <a:off x="1503360" y="4325760"/>
            <a:ext cx="1527120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755"/>
              </a:lnSpc>
            </a:pPr>
            <a:r>
              <a:rPr b="1" lang="en-US" sz="3100" strike="noStrike" u="none">
                <a:solidFill>
                  <a:srgbClr val="777168"/>
                </a:solidFill>
                <a:uFillTx/>
                <a:latin typeface="Telegraf Bold"/>
                <a:ea typeface="Telegraf Bold"/>
              </a:rPr>
              <a:t>WE RESPECTFULLY REQUEST THE OPPORTUNITY TO TAKE THIS IDEA FORWARD AND BUILD A WORKING PROTOTYPE IF OUR PROJECT IS SELECTED.</a:t>
            </a:r>
            <a:endParaRPr b="0" lang="en-US" sz="31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9" name="TextBox 16"/>
          <p:cNvSpPr/>
          <p:nvPr/>
        </p:nvSpPr>
        <p:spPr>
          <a:xfrm>
            <a:off x="1828080" y="6171480"/>
            <a:ext cx="15271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755"/>
              </a:lnSpc>
            </a:pPr>
            <a:r>
              <a:rPr b="1" lang="en-US" sz="3100" strike="noStrike" u="none">
                <a:solidFill>
                  <a:srgbClr val="a6a6a6"/>
                </a:solidFill>
                <a:uFillTx/>
                <a:latin typeface="Telegraf Bold"/>
                <a:ea typeface="Telegraf Bold"/>
              </a:rPr>
              <a:t>WE MAY BE STUDENTS TODAY, BUT WE ARE READY TO TURN OUR IDEA INTO SOMETHING REAL.</a:t>
            </a:r>
            <a:endParaRPr b="0" lang="en-US" sz="31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00" name="TextBox 17"/>
          <p:cNvSpPr/>
          <p:nvPr/>
        </p:nvSpPr>
        <p:spPr>
          <a:xfrm>
            <a:off x="13847040" y="7356960"/>
            <a:ext cx="438732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11"/>
              </a:lnSpc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TEAM — TRIBAL TECH INNOVATORS</a:t>
            </a:r>
            <a:endParaRPr b="0" lang="en-US" sz="17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01" name="TextBox 18"/>
          <p:cNvSpPr/>
          <p:nvPr/>
        </p:nvSpPr>
        <p:spPr>
          <a:xfrm>
            <a:off x="12160800" y="7979760"/>
            <a:ext cx="728568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23"/>
              </a:lnSpc>
            </a:pPr>
            <a:r>
              <a:rPr b="1" lang="en-US" sz="23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CHARAN KANDULA</a:t>
            </a:r>
            <a:endParaRPr b="0" lang="en-US" sz="23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02" name="TextBox 19"/>
          <p:cNvSpPr/>
          <p:nvPr/>
        </p:nvSpPr>
        <p:spPr>
          <a:xfrm>
            <a:off x="12160800" y="8593920"/>
            <a:ext cx="728568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23"/>
              </a:lnSpc>
            </a:pPr>
            <a:r>
              <a:rPr b="1" lang="en-US" sz="23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TEJA BELAMKONDA</a:t>
            </a:r>
            <a:endParaRPr b="0" lang="en-US" sz="23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03" name="TextBox 20"/>
          <p:cNvSpPr/>
          <p:nvPr/>
        </p:nvSpPr>
        <p:spPr>
          <a:xfrm>
            <a:off x="12298320" y="9204120"/>
            <a:ext cx="728568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23"/>
              </a:lnSpc>
            </a:pPr>
            <a:r>
              <a:rPr b="1" lang="en-US" sz="23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MOHAN DODDA</a:t>
            </a:r>
            <a:endParaRPr b="0" lang="en-US" sz="23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04" name="TextBox 21"/>
          <p:cNvSpPr/>
          <p:nvPr/>
        </p:nvSpPr>
        <p:spPr>
          <a:xfrm>
            <a:off x="12298320" y="9680760"/>
            <a:ext cx="728568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123"/>
              </a:lnSpc>
            </a:pPr>
            <a:r>
              <a:rPr b="1" lang="en-US" sz="2380" strike="noStrike" u="none">
                <a:solidFill>
                  <a:srgbClr val="ffffff"/>
                </a:solidFill>
                <a:uFillTx/>
                <a:latin typeface="Telegraf Bold"/>
                <a:ea typeface="Telegraf Bold"/>
              </a:rPr>
              <a:t>SATWIK KOMMULA</a:t>
            </a:r>
            <a:endParaRPr b="0" lang="en-US" sz="238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05" name="TextBox 22"/>
          <p:cNvSpPr/>
          <p:nvPr/>
        </p:nvSpPr>
        <p:spPr>
          <a:xfrm>
            <a:off x="1956600" y="9531720"/>
            <a:ext cx="106488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104"/>
              </a:lnSpc>
            </a:pPr>
            <a:r>
              <a:rPr b="1" lang="en-US" sz="3490" strike="noStrike" u="none">
                <a:solidFill>
                  <a:srgbClr val="777168"/>
                </a:solidFill>
                <a:uFillTx/>
                <a:latin typeface="Telegraf Bold"/>
                <a:ea typeface="Telegraf Bold"/>
              </a:rPr>
              <a:t>“</a:t>
            </a:r>
            <a:r>
              <a:rPr b="1" lang="en-US" sz="3490" strike="noStrike" u="none">
                <a:solidFill>
                  <a:srgbClr val="777168"/>
                </a:solidFill>
                <a:uFillTx/>
                <a:latin typeface="Telegraf Bold"/>
                <a:ea typeface="Telegraf Bold"/>
              </a:rPr>
              <a:t>DON'T JUST IMAGINE THE FUTURE. BUILD IT.”</a:t>
            </a:r>
            <a:endParaRPr b="0" lang="en-US" sz="3490" strike="noStrike" u="none">
              <a:solidFill>
                <a:srgbClr val="ffffff"/>
              </a:solidFill>
              <a:uFillTx/>
              <a:latin typeface="Noto Sans CJK SC"/>
            </a:endParaRPr>
          </a:p>
          <a:p>
            <a:pPr algn="ctr" defTabSz="914400">
              <a:lnSpc>
                <a:spcPts val="3104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DAHWHs2nfUA</dc:identifier>
  <dc:language>zh-CN</dc:language>
  <cp:lastModifiedBy/>
  <dcterms:modified xsi:type="dcterms:W3CDTF">2011-08-01T06:04:30Z</dcterms:modified>
  <cp:revision>1</cp:revision>
  <dc:subject/>
  <dc:title>Dark Blue and White Modern Futuristic Technology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