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Aptos"/>
              </a:defRPr>
            </a:pPr>
            <a:r>
              <a:t>🤖 LET'S TEACH A ROBOT!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057400"/>
            <a:ext cx="99669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700" b="1">
                <a:solidFill>
                  <a:srgbClr val="FAD24C"/>
                </a:solidFill>
                <a:latin typeface="Aptos"/>
              </a:defRPr>
            </a:pPr>
            <a:r>
              <a:t>Programming Basics — without fear! 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834640"/>
            <a:ext cx="8503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900" b="0">
                <a:solidFill>
                  <a:srgbClr val="DCEBFA"/>
                </a:solidFill>
                <a:latin typeface="Aptos"/>
              </a:defRPr>
            </a:pPr>
            <a:r>
              <a:t>Level 2 • Junior Engineer • Session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" y="3886200"/>
            <a:ext cx="1920240" cy="1234440"/>
          </a:xfrm>
          <a:prstGeom prst="roundRect">
            <a:avLst/>
          </a:prstGeom>
          <a:solidFill>
            <a:srgbClr val="714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4069080"/>
            <a:ext cx="19202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Aptos"/>
              </a:defRPr>
            </a:pPr>
            <a:r>
              <a:t>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526280"/>
            <a:ext cx="1920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THINK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77639" y="3886200"/>
            <a:ext cx="1920240" cy="1234440"/>
          </a:xfrm>
          <a:prstGeom prst="roundRect">
            <a:avLst/>
          </a:prstGeom>
          <a:solidFill>
            <a:srgbClr val="307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77639" y="4069080"/>
            <a:ext cx="19202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Aptos"/>
              </a:defRPr>
            </a:pPr>
            <a:r>
              <a:t>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77639" y="4526280"/>
            <a:ext cx="1920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LOOK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49440" y="3886200"/>
            <a:ext cx="1920240" cy="1234440"/>
          </a:xfrm>
          <a:prstGeom prst="roundRect">
            <a:avLst/>
          </a:prstGeom>
          <a:solidFill>
            <a:srgbClr val="F29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0" y="4069080"/>
            <a:ext cx="19202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Aptos"/>
              </a:defRPr>
            </a:pPr>
            <a:r>
              <a:t>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4526280"/>
            <a:ext cx="1920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DECIDE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81160" y="3886200"/>
            <a:ext cx="1920240" cy="1234440"/>
          </a:xfrm>
          <a:prstGeom prst="roundRect">
            <a:avLst/>
          </a:prstGeom>
          <a:solidFill>
            <a:srgbClr val="46A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81160" y="4069080"/>
            <a:ext cx="19202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Aptos"/>
              </a:defRPr>
            </a:pPr>
            <a:r>
              <a:t>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81160" y="4526280"/>
            <a:ext cx="1920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5669280"/>
            <a:ext cx="8503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You do NOT need to know coding before this class.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1C2F4E"/>
                </a:solidFill>
                <a:latin typeface="Aptos"/>
              </a:defRPr>
            </a:pPr>
            <a:r>
              <a:t>First: No Need to Be Scared! 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972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5F646E"/>
                </a:solidFill>
                <a:latin typeface="Aptos"/>
              </a:defRPr>
            </a:pPr>
            <a:r>
              <a:t>Today is about giving simple instructions to a robot.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54480"/>
            <a:ext cx="52578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76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74519"/>
            <a:ext cx="594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800" b="1">
                <a:solidFill>
                  <a:srgbClr val="E76691"/>
                </a:solidFill>
                <a:latin typeface="Aptos"/>
              </a:defRPr>
            </a:pPr>
            <a:r>
              <a:t>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856231"/>
            <a:ext cx="4069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1">
                <a:solidFill>
                  <a:srgbClr val="282D37"/>
                </a:solidFill>
                <a:latin typeface="Aptos"/>
              </a:defRPr>
            </a:pPr>
            <a:r>
              <a:t>No big words to memorize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554480"/>
            <a:ext cx="52578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7148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874519"/>
            <a:ext cx="594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800" b="1">
                <a:solidFill>
                  <a:srgbClr val="7148B5"/>
                </a:solidFill>
                <a:latin typeface="Aptos"/>
              </a:defRPr>
            </a:pPr>
            <a:r>
              <a:t>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0" y="1856231"/>
            <a:ext cx="4069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1">
                <a:solidFill>
                  <a:srgbClr val="282D37"/>
                </a:solidFill>
                <a:latin typeface="Aptos"/>
              </a:defRPr>
            </a:pPr>
            <a:r>
              <a:t>No difficult maths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383280"/>
            <a:ext cx="52578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46A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703320"/>
            <a:ext cx="594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800" b="1">
                <a:solidFill>
                  <a:srgbClr val="46A669"/>
                </a:solidFill>
                <a:latin typeface="Aptos"/>
              </a:defRPr>
            </a:pPr>
            <a:r>
              <a:t>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3685032"/>
            <a:ext cx="4069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1">
                <a:solidFill>
                  <a:srgbClr val="282D37"/>
                </a:solidFill>
                <a:latin typeface="Aptos"/>
              </a:defRPr>
            </a:pPr>
            <a:r>
              <a:t>We learn step by step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3383280"/>
            <a:ext cx="52578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307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3703320"/>
            <a:ext cx="594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800" b="1">
                <a:solidFill>
                  <a:srgbClr val="307EC9"/>
                </a:solidFill>
                <a:latin typeface="Aptos"/>
              </a:defRPr>
            </a:pPr>
            <a:r>
              <a:t>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3685032"/>
            <a:ext cx="4069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1">
                <a:solidFill>
                  <a:srgbClr val="282D37"/>
                </a:solidFill>
                <a:latin typeface="Aptos"/>
              </a:defRPr>
            </a:pPr>
            <a:r>
              <a:t>We test and play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920240" y="5303520"/>
            <a:ext cx="8321040" cy="777240"/>
          </a:xfrm>
          <a:prstGeom prst="roundRect">
            <a:avLst/>
          </a:prstGeom>
          <a:solidFill>
            <a:srgbClr val="EBF5FD"/>
          </a:solidFill>
          <a:ln>
            <a:solidFill>
              <a:srgbClr val="307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57400" y="5468112"/>
            <a:ext cx="80467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1C2F4E"/>
                </a:solidFill>
                <a:latin typeface="Aptos"/>
              </a:defRPr>
            </a:pPr>
            <a:r>
              <a:t>🎯 Goal: Make the robot do something YOU choose!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5F646E"/>
                </a:solidFill>
                <a:latin typeface="Aptos"/>
              </a:defRPr>
            </a:pPr>
            <a:r>
              <a:t>Robotics Programming Basics  •  Level 2  •  Session 2 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1C2F4E"/>
                </a:solidFill>
                <a:latin typeface="Aptos"/>
              </a:defRPr>
            </a:pPr>
            <a:r>
              <a:t>So… What Is Programming?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972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5F646E"/>
                </a:solidFill>
                <a:latin typeface="Aptos"/>
              </a:defRPr>
            </a:pPr>
            <a:r>
              <a:t>Programming means giving instructions in the correct order.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>
                <a:solidFill>
                  <a:srgbClr val="282D37"/>
                </a:solidFill>
                <a:latin typeface="Aptos"/>
              </a:defRPr>
            </a:pPr>
            <a:r>
              <a:t>Imagine telling a friend how to make a sandwich: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48840"/>
            <a:ext cx="2423160" cy="1234440"/>
          </a:xfrm>
          <a:prstGeom prst="roundRect">
            <a:avLst/>
          </a:prstGeom>
          <a:solidFill>
            <a:srgbClr val="307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304288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2304288"/>
            <a:ext cx="16916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Get bread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39" y="2148840"/>
            <a:ext cx="2423160" cy="1234440"/>
          </a:xfrm>
          <a:prstGeom prst="roundRect">
            <a:avLst/>
          </a:prstGeom>
          <a:solidFill>
            <a:srgbClr val="714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79" y="2304288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304288"/>
            <a:ext cx="16916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Add filling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59" y="2148840"/>
            <a:ext cx="2423160" cy="1234440"/>
          </a:xfrm>
          <a:prstGeom prst="roundRect">
            <a:avLst/>
          </a:prstGeom>
          <a:solidFill>
            <a:srgbClr val="F29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799" y="2304288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20" y="2304288"/>
            <a:ext cx="16916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Close it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98280" y="2148840"/>
            <a:ext cx="2423160" cy="1234440"/>
          </a:xfrm>
          <a:prstGeom prst="roundRect">
            <a:avLst/>
          </a:prstGeom>
          <a:solidFill>
            <a:srgbClr val="46A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89719" y="2304288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0" y="2304288"/>
            <a:ext cx="16916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Eat! 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069080"/>
            <a:ext cx="10241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>
                <a:solidFill>
                  <a:srgbClr val="1C2F4E"/>
                </a:solidFill>
                <a:latin typeface="Aptos"/>
              </a:defRPr>
            </a:pPr>
            <a:r>
              <a:t>A robot also needs instructions — but we write them in a programming language.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80360" y="5074920"/>
            <a:ext cx="6400800" cy="502920"/>
          </a:xfrm>
          <a:prstGeom prst="roundRect">
            <a:avLst/>
          </a:prstGeom>
          <a:solidFill>
            <a:srgbClr val="714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26079" y="5111496"/>
            <a:ext cx="63093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900" b="1">
                <a:solidFill>
                  <a:srgbClr val="FFFFFF"/>
                </a:solidFill>
                <a:latin typeface="Aptos"/>
              </a:defRPr>
            </a:pPr>
            <a:r>
              <a:t>Human instructions → Robot instructions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5F646E"/>
                </a:solidFill>
                <a:latin typeface="Aptos"/>
              </a:defRPr>
            </a:pPr>
            <a:r>
              <a:t>Robotics Programming Basics  •  Level 2  •  Session 2 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1C2F4E"/>
                </a:solidFill>
                <a:latin typeface="Aptos"/>
              </a:defRPr>
            </a:pPr>
            <a:r>
              <a:t>Meet the Arduino 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972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5F646E"/>
                </a:solidFill>
                <a:latin typeface="Aptos"/>
              </a:defRPr>
            </a:pPr>
            <a:r>
              <a:t>Think of Arduino as the robot's tiny brain.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324612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307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3246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400" b="0">
                <a:solidFill>
                  <a:srgbClr val="307EC9"/>
                </a:solidFill>
                <a:latin typeface="Aptos"/>
              </a:defRPr>
            </a:pPr>
            <a:r>
              <a:t>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14600"/>
            <a:ext cx="3246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100" b="1">
                <a:solidFill>
                  <a:srgbClr val="307EC9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154680"/>
            <a:ext cx="26974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282D37"/>
                </a:solidFill>
                <a:latin typeface="Aptos"/>
              </a:defRPr>
            </a:pPr>
            <a:r>
              <a:t>What does the robot sense?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60520" y="1508760"/>
            <a:ext cx="324612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7148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60520" y="1783080"/>
            <a:ext cx="3246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400" b="0">
                <a:solidFill>
                  <a:srgbClr val="7148B5"/>
                </a:solidFill>
                <a:latin typeface="Aptos"/>
              </a:defRPr>
            </a:pPr>
            <a:r>
              <a:t>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60520" y="2514600"/>
            <a:ext cx="3246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100" b="1">
                <a:solidFill>
                  <a:srgbClr val="7148B5"/>
                </a:solidFill>
                <a:latin typeface="Aptos"/>
              </a:defRPr>
            </a:pPr>
            <a:r>
              <a:t>THINK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3154680"/>
            <a:ext cx="26974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282D37"/>
                </a:solidFill>
                <a:latin typeface="Aptos"/>
              </a:defRPr>
            </a:pPr>
            <a:r>
              <a:t>What should it decide?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80960" y="1508760"/>
            <a:ext cx="324612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F29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0" y="1783080"/>
            <a:ext cx="3246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400" b="0">
                <a:solidFill>
                  <a:srgbClr val="F29128"/>
                </a:solidFill>
                <a:latin typeface="Aptos"/>
              </a:defRPr>
            </a:pPr>
            <a:r>
              <a:t>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2514600"/>
            <a:ext cx="3246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100" b="1">
                <a:solidFill>
                  <a:srgbClr val="F29128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80" y="3154680"/>
            <a:ext cx="26974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282D37"/>
                </a:solidFill>
                <a:latin typeface="Aptos"/>
              </a:defRPr>
            </a:pPr>
            <a:r>
              <a:t>What should it do?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983480"/>
            <a:ext cx="105613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100" b="1">
                <a:solidFill>
                  <a:srgbClr val="1C2F4E"/>
                </a:solidFill>
                <a:latin typeface="Aptos"/>
              </a:defRPr>
            </a:pPr>
            <a:r>
              <a:t>Example:  LDR sees darkness  →  Arduino decides  →  LED turns 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5F646E"/>
                </a:solidFill>
                <a:latin typeface="Aptos"/>
              </a:defRPr>
            </a:pPr>
            <a:r>
              <a:t>Robotics Programming Basics  •  Level 2  •  Session 2 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1C2F4E"/>
                </a:solidFill>
                <a:latin typeface="Aptos"/>
              </a:defRPr>
            </a:pPr>
            <a:r>
              <a:t>Our First Tiny Arduino Program 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972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5F646E"/>
                </a:solidFill>
                <a:latin typeface="Aptos"/>
              </a:defRPr>
            </a:pPr>
            <a:r>
              <a:t>We don't need to understand everything at once.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88720" y="1417320"/>
            <a:ext cx="9784080" cy="2743200"/>
          </a:xfrm>
          <a:prstGeom prst="roundRect">
            <a:avLst/>
          </a:prstGeom>
          <a:solidFill>
            <a:srgbClr val="1F242B"/>
          </a:solidFill>
          <a:ln>
            <a:solidFill>
              <a:srgbClr val="307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44752" y="1618488"/>
            <a:ext cx="9272015" cy="23408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onsolas"/>
              </a:defRPr>
            </a:pPr>
            <a:r>
              <a:t>void setup() {</a:t>
            </a:r>
            <a:br/>
            <a:r>
              <a:t>  // get ready</a:t>
            </a:r>
            <a:br/>
            <a:r>
              <a:t>}</a:t>
            </a:r>
            <a:br/>
            <a:br/>
            <a:r>
              <a:t>void loop() {</a:t>
            </a:r>
            <a:br/>
            <a:r>
              <a:t>  // do this again and again</a:t>
            </a:r>
            <a:br/>
            <a:r>
              <a:t>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4526280"/>
            <a:ext cx="4343400" cy="1051560"/>
          </a:xfrm>
          <a:prstGeom prst="roundRect">
            <a:avLst/>
          </a:prstGeom>
          <a:solidFill>
            <a:srgbClr val="EBF5FD"/>
          </a:solidFill>
          <a:ln>
            <a:solidFill>
              <a:srgbClr val="307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08760" y="4736592"/>
            <a:ext cx="4069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 b="1">
                <a:solidFill>
                  <a:srgbClr val="307EC9"/>
                </a:solidFill>
                <a:latin typeface="Aptos"/>
              </a:defRPr>
            </a:pPr>
            <a:r>
              <a:t>SETUP = once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46520" y="4526280"/>
            <a:ext cx="4343400" cy="1051560"/>
          </a:xfrm>
          <a:prstGeom prst="roundRect">
            <a:avLst/>
          </a:prstGeom>
          <a:solidFill>
            <a:srgbClr val="F3EEFB"/>
          </a:solidFill>
          <a:ln>
            <a:solidFill>
              <a:srgbClr val="7148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4736592"/>
            <a:ext cx="4069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 b="1">
                <a:solidFill>
                  <a:srgbClr val="7148B5"/>
                </a:solidFill>
                <a:latin typeface="Aptos"/>
              </a:defRPr>
            </a:pPr>
            <a:r>
              <a:t>LOOP = repeat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5F646E"/>
                </a:solidFill>
                <a:latin typeface="Aptos"/>
              </a:defRPr>
            </a:pPr>
            <a:r>
              <a:t>Robotics Programming Basics  •  Level 2  •  Session 2 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1C2F4E"/>
                </a:solidFill>
                <a:latin typeface="Aptos"/>
              </a:defRPr>
            </a:pPr>
            <a:r>
              <a:t>Let's Control an LED 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972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5F646E"/>
                </a:solidFill>
                <a:latin typeface="Aptos"/>
              </a:defRPr>
            </a:pPr>
            <a:r>
              <a:t>Our first robot command: ON and OFF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>
                <a:solidFill>
                  <a:srgbClr val="282D37"/>
                </a:solidFill>
                <a:latin typeface="Aptos"/>
              </a:defRPr>
            </a:pPr>
            <a:r>
              <a:t>Think of an LED like a tiny light switch.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43000" y="2057400"/>
            <a:ext cx="3840480" cy="502920"/>
          </a:xfrm>
          <a:prstGeom prst="roundRect">
            <a:avLst/>
          </a:prstGeom>
          <a:solidFill>
            <a:srgbClr val="46A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093976"/>
            <a:ext cx="37490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300" b="1">
                <a:solidFill>
                  <a:srgbClr val="FFFFFF"/>
                </a:solidFill>
                <a:latin typeface="Aptos"/>
              </a:defRPr>
            </a:pPr>
            <a:r>
              <a:t>HIGH  =  ON  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60" y="2057400"/>
            <a:ext cx="3840480" cy="502920"/>
          </a:xfrm>
          <a:prstGeom prst="roundRect">
            <a:avLst/>
          </a:prstGeom>
          <a:solidFill>
            <a:srgbClr val="714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69480" y="2093976"/>
            <a:ext cx="37490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300" b="1">
                <a:solidFill>
                  <a:srgbClr val="FFFFFF"/>
                </a:solidFill>
                <a:latin typeface="Aptos"/>
              </a:defRPr>
            </a:pPr>
            <a:r>
              <a:t>LOW  =  OFF  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28800" y="3063240"/>
            <a:ext cx="8503920" cy="2103120"/>
          </a:xfrm>
          <a:prstGeom prst="roundRect">
            <a:avLst/>
          </a:prstGeom>
          <a:solidFill>
            <a:srgbClr val="1F242B"/>
          </a:solidFill>
          <a:ln>
            <a:solidFill>
              <a:srgbClr val="307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84832" y="3264408"/>
            <a:ext cx="7991856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onsolas"/>
              </a:defRPr>
            </a:pPr>
            <a:r>
              <a:t>digitalWrite(LED, HIGH);</a:t>
            </a:r>
            <a:br/>
            <a:r>
              <a:t>delay(1000);</a:t>
            </a:r>
            <a:br/>
            <a:r>
              <a:t>digitalWrite(LED, LOW);</a:t>
            </a:r>
            <a:br/>
            <a:r>
              <a:t>delay(1000);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532120"/>
            <a:ext cx="9966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F29128"/>
                </a:solidFill>
                <a:latin typeface="Aptos"/>
              </a:defRPr>
            </a:pPr>
            <a:r>
              <a:t>Challenge: What happens if we change 1000 to 200?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5F646E"/>
                </a:solidFill>
                <a:latin typeface="Aptos"/>
              </a:defRPr>
            </a:pPr>
            <a:r>
              <a:t>Robotics Programming Basics  •  Level 2  •  Session 2 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1C2F4E"/>
                </a:solidFill>
                <a:latin typeface="Aptos"/>
              </a:defRPr>
            </a:pPr>
            <a:r>
              <a:t>Now Let's Give the Robot an INPUT 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972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5F646E"/>
                </a:solidFill>
                <a:latin typeface="Aptos"/>
              </a:defRPr>
            </a:pPr>
            <a:r>
              <a:t>A button lets a human give the robot a command.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645920"/>
            <a:ext cx="2926080" cy="1508760"/>
          </a:xfrm>
          <a:prstGeom prst="roundRect">
            <a:avLst/>
          </a:prstGeom>
          <a:solidFill>
            <a:srgbClr val="307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65960"/>
            <a:ext cx="27432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Aptos"/>
              </a:defRPr>
            </a:pPr>
            <a:r>
              <a:t>PRESS</a:t>
            </a:r>
            <a:br/>
            <a:r>
              <a:t>BUTTON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17720" y="1645920"/>
            <a:ext cx="2926080" cy="1508760"/>
          </a:xfrm>
          <a:prstGeom prst="roundRect">
            <a:avLst/>
          </a:prstGeom>
          <a:solidFill>
            <a:srgbClr val="714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9159" y="1965960"/>
            <a:ext cx="27432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Aptos"/>
              </a:defRPr>
            </a:pPr>
            <a:r>
              <a:t>ARDUINO</a:t>
            </a:r>
            <a:br/>
            <a:r>
              <a:t>CHECKS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21040" y="1645920"/>
            <a:ext cx="2926080" cy="1508760"/>
          </a:xfrm>
          <a:prstGeom prst="roundRect">
            <a:avLst/>
          </a:prstGeom>
          <a:solidFill>
            <a:srgbClr val="46A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0" y="1965960"/>
            <a:ext cx="27432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Aptos"/>
              </a:defRPr>
            </a:pPr>
            <a:r>
              <a:t>LED</a:t>
            </a:r>
            <a:br/>
            <a:r>
              <a:t>TURNS 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840480"/>
            <a:ext cx="98755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100" b="1">
                <a:solidFill>
                  <a:srgbClr val="1C2F4E"/>
                </a:solidFill>
                <a:latin typeface="Aptos"/>
              </a:defRPr>
            </a:pPr>
            <a:r>
              <a:t>The robot is now doing something based on what it receives.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03120" y="4572000"/>
            <a:ext cx="7955279" cy="1325880"/>
          </a:xfrm>
          <a:prstGeom prst="roundRect">
            <a:avLst/>
          </a:prstGeom>
          <a:solidFill>
            <a:srgbClr val="1F242B"/>
          </a:solidFill>
          <a:ln>
            <a:solidFill>
              <a:srgbClr val="307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59152" y="4773168"/>
            <a:ext cx="7443215" cy="9235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onsolas"/>
              </a:defRPr>
            </a:pPr>
            <a:r>
              <a:t>if (button == HIGH) {</a:t>
            </a:r>
            <a:br/>
            <a:r>
              <a:t>  digitalWrite(LED, HIGH);</a:t>
            </a:r>
            <a:br/>
            <a:r>
              <a:t>} else {</a:t>
            </a:r>
            <a:br/>
            <a:r>
              <a:t>  digitalWrite(LED, LOW);</a:t>
            </a:r>
            <a:br/>
            <a:r>
              <a:t>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5F646E"/>
                </a:solidFill>
                <a:latin typeface="Aptos"/>
              </a:defRPr>
            </a:pPr>
            <a:r>
              <a:t>Robotics Programming Basics  •  Level 2  •  Session 2  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BF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1C2F4E"/>
                </a:solidFill>
                <a:latin typeface="Aptos"/>
              </a:defRPr>
            </a:pPr>
            <a:r>
              <a:t>The Robot Can Make Choices! 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972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5F646E"/>
                </a:solidFill>
                <a:latin typeface="Aptos"/>
              </a:defRPr>
            </a:pPr>
            <a:r>
              <a:t>This is called a CONDITION.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417320"/>
            <a:ext cx="15544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Aptos"/>
              </a:defRPr>
            </a:pPr>
            <a:r>
              <a:t>IF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1560" y="2103120"/>
            <a:ext cx="1828800" cy="1143000"/>
          </a:xfrm>
          <a:prstGeom prst="roundRect">
            <a:avLst/>
          </a:prstGeom>
          <a:solidFill>
            <a:srgbClr val="307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395728"/>
            <a:ext cx="1645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It is dark?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6120" y="2450592"/>
            <a:ext cx="1188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46A669"/>
                </a:solidFill>
                <a:latin typeface="Aptos"/>
              </a:defRPr>
            </a:pPr>
            <a:r>
              <a:t>YES 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2103120"/>
            <a:ext cx="2468880" cy="1143000"/>
          </a:xfrm>
          <a:prstGeom prst="roundRect">
            <a:avLst/>
          </a:prstGeom>
          <a:solidFill>
            <a:srgbClr val="46A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2359152"/>
            <a:ext cx="22860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Turn light ON 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2450592"/>
            <a:ext cx="1097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7148B5"/>
                </a:solidFill>
                <a:latin typeface="Aptos"/>
              </a:defRPr>
            </a:pPr>
            <a:r>
              <a:t>NO 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49640" y="2103120"/>
            <a:ext cx="2468880" cy="1143000"/>
          </a:xfrm>
          <a:prstGeom prst="roundRect">
            <a:avLst/>
          </a:prstGeom>
          <a:solidFill>
            <a:srgbClr val="714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41080" y="2359152"/>
            <a:ext cx="22860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Keep light OFF 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251960"/>
            <a:ext cx="10332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>
                <a:solidFill>
                  <a:srgbClr val="1C2F4E"/>
                </a:solidFill>
                <a:latin typeface="Aptos"/>
              </a:defRPr>
            </a:pPr>
            <a:r>
              <a:t>Real-life thinking:  IF it is raining → take an umbrella 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011680" y="5257800"/>
            <a:ext cx="8138160" cy="502920"/>
          </a:xfrm>
          <a:prstGeom prst="roundRect">
            <a:avLst/>
          </a:prstGeom>
          <a:solidFill>
            <a:srgbClr val="F29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57400" y="5294376"/>
            <a:ext cx="80467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900" b="1">
                <a:solidFill>
                  <a:srgbClr val="FFFFFF"/>
                </a:solidFill>
                <a:latin typeface="Aptos"/>
              </a:defRPr>
            </a:pPr>
            <a:r>
              <a:t>Programming = teaching the robot how to choose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5F646E"/>
                </a:solidFill>
                <a:latin typeface="Aptos"/>
              </a:defRPr>
            </a:pPr>
            <a:r>
              <a:t>Robotics Programming Basics  •  Level 2  •  Session 2  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1C2F4E"/>
                </a:solidFill>
                <a:latin typeface="Aptos"/>
              </a:defRPr>
            </a:pPr>
            <a:r>
              <a:t>Robots Need Senses 👀👂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972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5F646E"/>
                </a:solidFill>
                <a:latin typeface="Aptos"/>
              </a:defRPr>
            </a:pPr>
            <a:r>
              <a:t>Sensors help robots understand the world.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08760"/>
            <a:ext cx="256032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307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737360"/>
            <a:ext cx="25603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700" b="0">
                <a:solidFill>
                  <a:srgbClr val="307EC9"/>
                </a:solidFill>
                <a:latin typeface="Aptos"/>
              </a:defRPr>
            </a:pPr>
            <a:r>
              <a:t>☀️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331720"/>
            <a:ext cx="2560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307EC9"/>
                </a:solidFill>
                <a:latin typeface="Aptos"/>
              </a:defRPr>
            </a:pPr>
            <a:r>
              <a:t>LDR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80360"/>
            <a:ext cx="22860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0">
                <a:solidFill>
                  <a:srgbClr val="282D37"/>
                </a:solidFill>
                <a:latin typeface="Aptos"/>
              </a:defRPr>
            </a:pPr>
            <a:r>
              <a:t>Light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508760"/>
            <a:ext cx="256032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7148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0" y="1737360"/>
            <a:ext cx="25603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700" b="0">
                <a:solidFill>
                  <a:srgbClr val="7148B5"/>
                </a:solidFill>
                <a:latin typeface="Aptos"/>
              </a:defRPr>
            </a:pPr>
            <a:r>
              <a:t>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2331720"/>
            <a:ext cx="2560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7148B5"/>
                </a:solidFill>
                <a:latin typeface="Aptos"/>
              </a:defRPr>
            </a:pPr>
            <a:r>
              <a:t>PIR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880360"/>
            <a:ext cx="22860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0">
                <a:solidFill>
                  <a:srgbClr val="282D37"/>
                </a:solidFill>
                <a:latin typeface="Aptos"/>
              </a:defRPr>
            </a:pPr>
            <a:r>
              <a:t>Movement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508760"/>
            <a:ext cx="256032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F29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1737360"/>
            <a:ext cx="25603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700" b="0">
                <a:solidFill>
                  <a:srgbClr val="F29128"/>
                </a:solidFill>
                <a:latin typeface="Aptos"/>
              </a:defRPr>
            </a:pPr>
            <a:r>
              <a:t>🌡️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2331720"/>
            <a:ext cx="2560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F29128"/>
                </a:solidFill>
                <a:latin typeface="Aptos"/>
              </a:defRPr>
            </a:pPr>
            <a:r>
              <a:t>Thermistor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880360"/>
            <a:ext cx="22860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0">
                <a:solidFill>
                  <a:srgbClr val="282D37"/>
                </a:solidFill>
                <a:latin typeface="Aptos"/>
              </a:defRPr>
            </a:pPr>
            <a:r>
              <a:t>Temperature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1508760"/>
            <a:ext cx="256032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46A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8280" y="1737360"/>
            <a:ext cx="25603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700" b="0">
                <a:solidFill>
                  <a:srgbClr val="46A669"/>
                </a:solidFill>
                <a:latin typeface="Aptos"/>
              </a:defRPr>
            </a:pPr>
            <a:r>
              <a:t>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8280" y="2331720"/>
            <a:ext cx="2560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46A669"/>
                </a:solidFill>
                <a:latin typeface="Aptos"/>
              </a:defRPr>
            </a:pPr>
            <a:r>
              <a:t>IR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2880360"/>
            <a:ext cx="22860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0">
                <a:solidFill>
                  <a:srgbClr val="282D37"/>
                </a:solidFill>
                <a:latin typeface="Aptos"/>
              </a:defRPr>
            </a:pPr>
            <a:r>
              <a:t>Distance / object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4800600"/>
            <a:ext cx="96012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500" b="1">
                <a:solidFill>
                  <a:srgbClr val="1C2F4E"/>
                </a:solidFill>
                <a:latin typeface="Aptos"/>
              </a:defRPr>
            </a:pPr>
            <a:r>
              <a:t>Sensor → Arduino → Decision → 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5F646E"/>
                </a:solidFill>
                <a:latin typeface="Aptos"/>
              </a:defRPr>
            </a:pPr>
            <a:r>
              <a:t>Robotics Programming Basics  •  Level 2  •  Session 2  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1C2F4E"/>
                </a:solidFill>
                <a:latin typeface="Aptos"/>
              </a:defRPr>
            </a:pPr>
            <a:r>
              <a:t>A Sensor Can Give a Number 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972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5F646E"/>
                </a:solidFill>
                <a:latin typeface="Aptos"/>
              </a:defRPr>
            </a:pPr>
            <a:r>
              <a:t>For example, an LDR can tell us how bright or dark it 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307EC9"/>
                </a:solidFill>
                <a:latin typeface="Aptos"/>
              </a:defRPr>
            </a:pPr>
            <a:r>
              <a:t>LIGHT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0" y="1481328"/>
            <a:ext cx="1371600" cy="502920"/>
          </a:xfrm>
          <a:prstGeom prst="rect">
            <a:avLst/>
          </a:prstGeom>
          <a:solidFill>
            <a:srgbClr val="307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60520" y="1481328"/>
            <a:ext cx="1371600" cy="502920"/>
          </a:xfrm>
          <a:prstGeom prst="rect">
            <a:avLst/>
          </a:prstGeom>
          <a:solidFill>
            <a:srgbClr val="49B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577840" y="1481328"/>
            <a:ext cx="1371600" cy="502920"/>
          </a:xfrm>
          <a:prstGeom prst="rect">
            <a:avLst/>
          </a:prstGeom>
          <a:solidFill>
            <a:srgbClr val="46A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995160" y="1481328"/>
            <a:ext cx="1371600" cy="502920"/>
          </a:xfrm>
          <a:prstGeom prst="rect">
            <a:avLst/>
          </a:prstGeom>
          <a:solidFill>
            <a:srgbClr val="FAD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412480" y="1481328"/>
            <a:ext cx="1371600" cy="502920"/>
          </a:xfrm>
          <a:prstGeom prst="rect">
            <a:avLst/>
          </a:prstGeom>
          <a:solidFill>
            <a:srgbClr val="F29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12680" y="1417320"/>
            <a:ext cx="1280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F29128"/>
                </a:solidFill>
                <a:latin typeface="Aptos"/>
              </a:defRPr>
            </a:pPr>
            <a:r>
              <a:t>DARK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011680" y="2743200"/>
            <a:ext cx="8138160" cy="1554480"/>
          </a:xfrm>
          <a:prstGeom prst="roundRect">
            <a:avLst/>
          </a:prstGeom>
          <a:solidFill>
            <a:srgbClr val="1F242B"/>
          </a:solidFill>
          <a:ln>
            <a:solidFill>
              <a:srgbClr val="307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67712" y="2944368"/>
            <a:ext cx="7626096" cy="11521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Consolas"/>
              </a:defRPr>
            </a:pPr>
            <a:r>
              <a:t>int light = analogRead(A0);</a:t>
            </a:r>
            <a:br/>
            <a:r>
              <a:t>Serial.println(light);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4754880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100" b="1">
                <a:solidFill>
                  <a:srgbClr val="7148B5"/>
                </a:solidFill>
                <a:latin typeface="Aptos"/>
              </a:defRPr>
            </a:pPr>
            <a:r>
              <a:t>Serial Monitor = a window that lets us see the number.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5F646E"/>
                </a:solidFill>
                <a:latin typeface="Aptos"/>
              </a:defRPr>
            </a:pPr>
            <a:r>
              <a:t>Robotics Programming Basics  •  Level 2  •  Session 2  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1C2F4E"/>
                </a:solidFill>
                <a:latin typeface="Aptos"/>
              </a:defRPr>
            </a:pPr>
            <a:r>
              <a:t>Mini Project 🌙💡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972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5F646E"/>
                </a:solidFill>
                <a:latin typeface="Aptos"/>
              </a:defRPr>
            </a:pPr>
            <a:r>
              <a:t>Automatic Streetlight — our robot solves a real problem!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2011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E76691"/>
                </a:solidFill>
                <a:latin typeface="Aptos"/>
              </a:defRPr>
            </a:pPr>
            <a:r>
              <a:t>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21945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900" b="1">
                <a:solidFill>
                  <a:srgbClr val="282D37"/>
                </a:solidFill>
                <a:latin typeface="Aptos"/>
              </a:defRPr>
            </a:pPr>
            <a:r>
              <a:t>Lights should turn ON when it gets dark.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325880"/>
            <a:ext cx="2011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307EC9"/>
                </a:solidFill>
                <a:latin typeface="Aptos"/>
              </a:defRPr>
            </a:pPr>
            <a:r>
              <a:t>OUR ROBOT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9000" y="1783080"/>
            <a:ext cx="24688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900" b="1">
                <a:solidFill>
                  <a:srgbClr val="282D37"/>
                </a:solidFill>
                <a:latin typeface="Aptos"/>
              </a:defRPr>
            </a:pPr>
            <a:r>
              <a:t>LDR + Arduino + LED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0840" y="1325880"/>
            <a:ext cx="2011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7148B5"/>
                </a:solidFill>
                <a:latin typeface="Aptos"/>
              </a:defRPr>
            </a:pPr>
            <a:r>
              <a:t>RULE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37360"/>
            <a:ext cx="265176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900" b="1">
                <a:solidFill>
                  <a:srgbClr val="282D37"/>
                </a:solidFill>
                <a:latin typeface="Aptos"/>
              </a:defRPr>
            </a:pPr>
            <a:r>
              <a:t>IF dark → LED ON</a:t>
            </a:r>
            <a:br/>
            <a:r>
              <a:t>ELSE → LED OFF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46920" y="1325880"/>
            <a:ext cx="1828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46A669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64040" y="1783080"/>
            <a:ext cx="21945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100" b="1">
                <a:solidFill>
                  <a:srgbClr val="282D37"/>
                </a:solidFill>
                <a:latin typeface="Aptos"/>
              </a:defRPr>
            </a:pPr>
            <a:r>
              <a:t>Automatic!</a:t>
            </a:r>
            <a:br/>
            <a:r>
              <a:t>🤖✨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31720" y="3429000"/>
            <a:ext cx="7498079" cy="2057400"/>
          </a:xfrm>
          <a:prstGeom prst="roundRect">
            <a:avLst/>
          </a:prstGeom>
          <a:solidFill>
            <a:srgbClr val="1F242B"/>
          </a:solidFill>
          <a:ln>
            <a:solidFill>
              <a:srgbClr val="307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87752" y="3630168"/>
            <a:ext cx="6986015" cy="1655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onsolas"/>
              </a:defRPr>
            </a:pPr>
            <a:r>
              <a:t>if (light &lt; 500) {</a:t>
            </a:r>
            <a:br/>
            <a:r>
              <a:t>  digitalWrite(LED, HIGH);</a:t>
            </a:r>
            <a:br/>
            <a:r>
              <a:t>} else {</a:t>
            </a:r>
            <a:br/>
            <a:r>
              <a:t>  digitalWrite(LED, LOW);</a:t>
            </a:r>
            <a:br/>
            <a:r>
              <a:t>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806440"/>
            <a:ext cx="10149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1">
                <a:solidFill>
                  <a:srgbClr val="1C2F4E"/>
                </a:solidFill>
                <a:latin typeface="Aptos"/>
              </a:defRPr>
            </a:pPr>
            <a:r>
              <a:t>Don't worry about memorizing this — understand the idea first.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5F646E"/>
                </a:solidFill>
                <a:latin typeface="Aptos"/>
              </a:defRPr>
            </a:pPr>
            <a:r>
              <a:t>Robotics Programming Basics  •  Level 2  •  Session 2    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1C2F4E"/>
                </a:solidFill>
                <a:latin typeface="Aptos"/>
              </a:defRPr>
            </a:pPr>
            <a:r>
              <a:t>Mini Project 🌙💡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972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5F646E"/>
                </a:solidFill>
                <a:latin typeface="Aptos"/>
              </a:defRPr>
            </a:pPr>
            <a:r>
              <a:t>Automatic Streetlight — our robot solves a real problem!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2011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E76691"/>
                </a:solidFill>
                <a:latin typeface="Aptos"/>
              </a:defRPr>
            </a:pPr>
            <a:r>
              <a:t>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21945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900" b="1">
                <a:solidFill>
                  <a:srgbClr val="282D37"/>
                </a:solidFill>
                <a:latin typeface="Aptos"/>
              </a:defRPr>
            </a:pPr>
            <a:r>
              <a:t>Lights should turn ON when it gets dark.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325880"/>
            <a:ext cx="2011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307EC9"/>
                </a:solidFill>
                <a:latin typeface="Aptos"/>
              </a:defRPr>
            </a:pPr>
            <a:r>
              <a:t>OUR ROBOT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9000" y="1783080"/>
            <a:ext cx="24688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900" b="1">
                <a:solidFill>
                  <a:srgbClr val="282D37"/>
                </a:solidFill>
                <a:latin typeface="Aptos"/>
              </a:defRPr>
            </a:pPr>
            <a:r>
              <a:t>LDR + Arduino + LED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0840" y="1325880"/>
            <a:ext cx="2011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7148B5"/>
                </a:solidFill>
                <a:latin typeface="Aptos"/>
              </a:defRPr>
            </a:pPr>
            <a:r>
              <a:t>RULE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37360"/>
            <a:ext cx="265176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900" b="1">
                <a:solidFill>
                  <a:srgbClr val="282D37"/>
                </a:solidFill>
                <a:latin typeface="Aptos"/>
              </a:defRPr>
            </a:pPr>
            <a:r>
              <a:t>IF dark → LED ON</a:t>
            </a:r>
            <a:br/>
            <a:r>
              <a:t>ELSE → LED OFF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46920" y="1325880"/>
            <a:ext cx="1828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46A669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64040" y="1783080"/>
            <a:ext cx="21945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100" b="1">
                <a:solidFill>
                  <a:srgbClr val="282D37"/>
                </a:solidFill>
                <a:latin typeface="Aptos"/>
              </a:defRPr>
            </a:pPr>
            <a:r>
              <a:t>Automatic!</a:t>
            </a:r>
            <a:br/>
            <a:r>
              <a:t>🤖✨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31720" y="3429000"/>
            <a:ext cx="7498079" cy="2057400"/>
          </a:xfrm>
          <a:prstGeom prst="roundRect">
            <a:avLst/>
          </a:prstGeom>
          <a:solidFill>
            <a:srgbClr val="1F242B"/>
          </a:solidFill>
          <a:ln>
            <a:solidFill>
              <a:srgbClr val="307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87752" y="3630168"/>
            <a:ext cx="6986015" cy="1655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onsolas"/>
              </a:defRPr>
            </a:pPr>
            <a:r>
              <a:t>if (light &lt; 500) {</a:t>
            </a:r>
            <a:br/>
            <a:r>
              <a:t>  digitalWrite(LED, HIGH);</a:t>
            </a:r>
            <a:br/>
            <a:r>
              <a:t>} else {</a:t>
            </a:r>
            <a:br/>
            <a:r>
              <a:t>  digitalWrite(LED, LOW);</a:t>
            </a:r>
            <a:br/>
            <a:r>
              <a:t>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806440"/>
            <a:ext cx="10149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1">
                <a:solidFill>
                  <a:srgbClr val="1C2F4E"/>
                </a:solidFill>
                <a:latin typeface="Aptos"/>
              </a:defRPr>
            </a:pPr>
            <a:r>
              <a:t>Don't worry about memorizing this — understand the idea first.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5F646E"/>
                </a:solidFill>
                <a:latin typeface="Aptos"/>
              </a:defRPr>
            </a:pPr>
            <a:r>
              <a:t>Robotics Programming Basics  •  Level 2  •  Session 2  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1C2F4E"/>
                </a:solidFill>
                <a:latin typeface="Aptos"/>
              </a:defRPr>
            </a:pPr>
            <a:r>
              <a:t>Two Superpowers: REPEAT &amp; REUSE 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972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5F646E"/>
                </a:solidFill>
                <a:latin typeface="Aptos"/>
              </a:defRPr>
            </a:pPr>
            <a:r>
              <a:t>We use them when a robot has to do the same job many times.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6636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307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4617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500" b="1">
                <a:solidFill>
                  <a:srgbClr val="307EC9"/>
                </a:solidFill>
                <a:latin typeface="Aptos"/>
              </a:defRPr>
            </a:pPr>
            <a:r>
              <a:t>🔁 REPEAT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514600"/>
            <a:ext cx="43434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 b="1">
                <a:solidFill>
                  <a:srgbClr val="282D37"/>
                </a:solidFill>
                <a:latin typeface="Aptos"/>
              </a:defRPr>
            </a:pPr>
            <a:r>
              <a:t>A loop says:</a:t>
            </a:r>
            <a:br/>
            <a:r>
              <a:t>“Do this again!”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703320"/>
            <a:ext cx="4343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0">
                <a:solidFill>
                  <a:srgbClr val="5F646E"/>
                </a:solidFill>
                <a:latin typeface="Aptos"/>
              </a:defRPr>
            </a:pPr>
            <a:r>
              <a:t>Example: blink an LED 3 times.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463040"/>
            <a:ext cx="516636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7148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783080"/>
            <a:ext cx="4617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500" b="1">
                <a:solidFill>
                  <a:srgbClr val="7148B5"/>
                </a:solidFill>
                <a:latin typeface="Aptos"/>
              </a:defRPr>
            </a:pPr>
            <a:r>
              <a:t>🧩 REUSE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514600"/>
            <a:ext cx="45720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 b="1">
                <a:solidFill>
                  <a:srgbClr val="282D37"/>
                </a:solidFill>
                <a:latin typeface="Aptos"/>
              </a:defRPr>
            </a:pPr>
            <a:r>
              <a:t>A function says:</a:t>
            </a:r>
            <a:br/>
            <a:r>
              <a:t>“Use my instructions again!”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3703320"/>
            <a:ext cx="4572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0">
                <a:solidFill>
                  <a:srgbClr val="5F646E"/>
                </a:solidFill>
                <a:latin typeface="Aptos"/>
              </a:defRPr>
            </a:pPr>
            <a:r>
              <a:t>Example: blinkLED()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965960" y="5257800"/>
            <a:ext cx="8229600" cy="502920"/>
          </a:xfrm>
          <a:prstGeom prst="roundRect">
            <a:avLst/>
          </a:prstGeom>
          <a:solidFill>
            <a:srgbClr val="F29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11679" y="5294376"/>
            <a:ext cx="8138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You don't need to master these today — just know the idea.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5F646E"/>
                </a:solidFill>
                <a:latin typeface="Aptos"/>
              </a:defRPr>
            </a:pPr>
            <a:r>
              <a:t>Robotics Programming Basics  •  Level 2  •  Session 2   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1C2F4E"/>
                </a:solidFill>
                <a:latin typeface="Aptos"/>
              </a:defRPr>
            </a:pPr>
            <a:r>
              <a:t>Let's Play: YOU Are the Robot! 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972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5F646E"/>
                </a:solidFill>
                <a:latin typeface="Aptos"/>
              </a:defRPr>
            </a:pPr>
            <a:r>
              <a:t>No computer needed for this activity.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41732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82D37"/>
                </a:solidFill>
                <a:latin typeface="Aptos"/>
              </a:defRPr>
            </a:pPr>
            <a:r>
              <a:t>• One student = Robot 🤖</a:t>
            </a:r>
          </a:p>
          <a:p>
            <a:pPr>
              <a:spcAft>
                <a:spcPts val="1200"/>
              </a:spcAft>
              <a:defRPr sz="2100">
                <a:solidFill>
                  <a:srgbClr val="282D37"/>
                </a:solidFill>
                <a:latin typeface="Aptos"/>
              </a:defRPr>
            </a:pPr>
            <a:r>
              <a:t>• One student = Programmer 👩‍💻</a:t>
            </a:r>
          </a:p>
          <a:p>
            <a:pPr>
              <a:spcAft>
                <a:spcPts val="1200"/>
              </a:spcAft>
              <a:defRPr sz="2100">
                <a:solidFill>
                  <a:srgbClr val="282D37"/>
                </a:solidFill>
                <a:latin typeface="Aptos"/>
              </a:defRPr>
            </a:pPr>
            <a:r>
              <a:t>• Programmer gives only simple instructions.</a:t>
            </a:r>
          </a:p>
          <a:p>
            <a:pPr>
              <a:spcAft>
                <a:spcPts val="1200"/>
              </a:spcAft>
              <a:defRPr sz="2100">
                <a:solidFill>
                  <a:srgbClr val="282D37"/>
                </a:solidFill>
                <a:latin typeface="Aptos"/>
              </a:defRPr>
            </a:pPr>
            <a:r>
              <a:t>• Robot follows them exactly — even if the instruction is silly!</a:t>
            </a:r>
          </a:p>
          <a:p>
            <a:pPr>
              <a:spcAft>
                <a:spcPts val="1200"/>
              </a:spcAft>
              <a:defRPr sz="2100">
                <a:solidFill>
                  <a:srgbClr val="282D37"/>
                </a:solidFill>
                <a:latin typeface="Aptos"/>
              </a:defRPr>
            </a:pPr>
            <a:r>
              <a:t>• Class discovers why instructions must be clear and in order.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11680" y="4892040"/>
            <a:ext cx="8138160" cy="914400"/>
          </a:xfrm>
          <a:prstGeom prst="roundRect">
            <a:avLst/>
          </a:prstGeom>
          <a:solidFill>
            <a:srgbClr val="FFF4E5"/>
          </a:solidFill>
          <a:ln>
            <a:solidFill>
              <a:srgbClr val="F29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48840" y="5120640"/>
            <a:ext cx="78638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F29128"/>
                </a:solidFill>
                <a:latin typeface="Aptos"/>
              </a:defRPr>
            </a:pPr>
            <a:r>
              <a:t>Example: “Take 2 steps → turn right → stop.”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5F646E"/>
                </a:solidFill>
                <a:latin typeface="Aptos"/>
              </a:defRPr>
            </a:pPr>
            <a:r>
              <a:t>Robotics Programming Basics  •  Level 2  •  Session 2   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BF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1C2F4E"/>
                </a:solidFill>
                <a:latin typeface="Aptos"/>
              </a:defRPr>
            </a:pPr>
            <a:r>
              <a:t>Mission Time! 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972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5F646E"/>
                </a:solidFill>
                <a:latin typeface="Aptos"/>
              </a:defRPr>
            </a:pPr>
            <a:r>
              <a:t>Choose a challenge — there is no scary “wrong answer.”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3520440" cy="2880360"/>
          </a:xfrm>
          <a:prstGeom prst="roundRect">
            <a:avLst/>
          </a:prstGeom>
          <a:solidFill>
            <a:srgbClr val="FFFFFF"/>
          </a:solidFill>
          <a:ln>
            <a:solidFill>
              <a:srgbClr val="46A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74519"/>
            <a:ext cx="3246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900" b="1">
                <a:solidFill>
                  <a:srgbClr val="46A669"/>
                </a:solidFill>
                <a:latin typeface="Aptos"/>
              </a:defRPr>
            </a:pPr>
            <a:r>
              <a:t>🌟 EASY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651760"/>
            <a:ext cx="297180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100" b="1">
                <a:solidFill>
                  <a:srgbClr val="282D37"/>
                </a:solidFill>
                <a:latin typeface="Aptos"/>
              </a:defRPr>
            </a:pPr>
            <a:r>
              <a:t>Make an LED blink.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794760"/>
            <a:ext cx="3154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0">
                <a:solidFill>
                  <a:srgbClr val="5F646E"/>
                </a:solidFill>
                <a:latin typeface="Aptos"/>
              </a:defRPr>
            </a:pPr>
            <a:r>
              <a:t>💪 You can try it!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554480"/>
            <a:ext cx="3520440" cy="2880360"/>
          </a:xfrm>
          <a:prstGeom prst="roundRect">
            <a:avLst/>
          </a:prstGeom>
          <a:solidFill>
            <a:srgbClr val="FFFFFF"/>
          </a:solidFill>
          <a:ln>
            <a:solidFill>
              <a:srgbClr val="307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874519"/>
            <a:ext cx="3246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900" b="1">
                <a:solidFill>
                  <a:srgbClr val="307EC9"/>
                </a:solidFill>
                <a:latin typeface="Aptos"/>
              </a:defRPr>
            </a:pPr>
            <a:r>
              <a:t>🌟🌟 TRY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651760"/>
            <a:ext cx="297180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100" b="1">
                <a:solidFill>
                  <a:srgbClr val="282D37"/>
                </a:solidFill>
                <a:latin typeface="Aptos"/>
              </a:defRPr>
            </a:pPr>
            <a:r>
              <a:t>Make a button control an LED.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3794760"/>
            <a:ext cx="3154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0">
                <a:solidFill>
                  <a:srgbClr val="5F646E"/>
                </a:solidFill>
                <a:latin typeface="Aptos"/>
              </a:defRPr>
            </a:pPr>
            <a:r>
              <a:t>💪 You can try it!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66760" y="1554480"/>
            <a:ext cx="3520440" cy="2880360"/>
          </a:xfrm>
          <a:prstGeom prst="roundRect">
            <a:avLst/>
          </a:prstGeom>
          <a:solidFill>
            <a:srgbClr val="FFFFFF"/>
          </a:solidFill>
          <a:ln>
            <a:solidFill>
              <a:srgbClr val="7148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0" y="1874519"/>
            <a:ext cx="3246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900" b="1">
                <a:solidFill>
                  <a:srgbClr val="7148B5"/>
                </a:solidFill>
                <a:latin typeface="Aptos"/>
              </a:defRPr>
            </a:pPr>
            <a:r>
              <a:t>🌟🌟🌟 EXPLORE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1080" y="2651760"/>
            <a:ext cx="297180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100" b="1">
                <a:solidFill>
                  <a:srgbClr val="282D37"/>
                </a:solidFill>
                <a:latin typeface="Aptos"/>
              </a:defRPr>
            </a:pPr>
            <a:r>
              <a:t>Use an LDR to control an LED.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3794760"/>
            <a:ext cx="3154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0">
                <a:solidFill>
                  <a:srgbClr val="5F646E"/>
                </a:solidFill>
                <a:latin typeface="Aptos"/>
              </a:defRPr>
            </a:pPr>
            <a:r>
              <a:t>💪 You can try it!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507492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300" b="1">
                <a:solidFill>
                  <a:srgbClr val="1C2F4E"/>
                </a:solidFill>
                <a:latin typeface="Aptos"/>
              </a:defRPr>
            </a:pPr>
            <a:r>
              <a:t>Rule of the lab: TRY → TEST → CHANGE → TRY AGAIN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5F646E"/>
                </a:solidFill>
                <a:latin typeface="Aptos"/>
              </a:defRPr>
            </a:pPr>
            <a:r>
              <a:t>Robotics Programming Basics  •  Level 2  •  Session 2   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Aptos"/>
              </a:defRPr>
            </a:pPr>
            <a:r>
              <a:t>🎉 LOOK WHAT YOU CAN DO NOW!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1554480"/>
            <a:ext cx="96012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• Explain what programming means</a:t>
            </a:r>
          </a:p>
          <a:p>
            <a:pPr>
              <a:spcAft>
                <a:spcPts val="12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• Understand INPUT → THINK → OUTPUT</a:t>
            </a:r>
          </a:p>
          <a:p>
            <a:pPr>
              <a:spcAft>
                <a:spcPts val="12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• Recognize setup() and loop()</a:t>
            </a:r>
          </a:p>
          <a:p>
            <a:pPr>
              <a:spcAft>
                <a:spcPts val="12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• Control an LED</a:t>
            </a:r>
          </a:p>
          <a:p>
            <a:pPr>
              <a:spcAft>
                <a:spcPts val="12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• Read a button or sensor</a:t>
            </a:r>
          </a:p>
          <a:p>
            <a:pPr>
              <a:spcAft>
                <a:spcPts val="12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• Use IF / ELSE to make a decision</a:t>
            </a:r>
          </a:p>
          <a:p>
            <a:pPr>
              <a:spcAft>
                <a:spcPts val="12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• Build a simple automatic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5715000"/>
            <a:ext cx="9875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>
                <a:solidFill>
                  <a:srgbClr val="FAD24C"/>
                </a:solidFill>
                <a:latin typeface="Aptos"/>
              </a:defRPr>
            </a:pPr>
            <a:r>
              <a:t>Next time: we will make the robot even smarter! 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6172200"/>
            <a:ext cx="9966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>
                <a:solidFill>
                  <a:srgbClr val="DCEBFA"/>
                </a:solidFill>
                <a:latin typeface="Aptos"/>
              </a:defRPr>
            </a:pPr>
            <a:r>
              <a:t>REMEMBER: You are not expected to know everything today.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